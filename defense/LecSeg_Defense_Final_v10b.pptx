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62" r:id="rId10"/>
    <p:sldId id="263" r:id="rId11"/>
    <p:sldId id="264" r:id="rId12"/>
    <p:sldId id="266" r:id="rId13"/>
    <p:sldId id="275" r:id="rId14"/>
    <p:sldId id="278" r:id="rId15"/>
    <p:sldId id="265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3UWDdIpUyTtd0h8RzdNdfSMHx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8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 min total. Person 1 presents slides 1-3 (intro &amp; problem). BRAC University CSE thesis defense.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1. Emphasize the student experience — this is a real pain point every student in the room has felt. 1.5 minutes.</a:t>
            </a: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1. Spend 1.5 minutes here. This is the conceptual foundation. The granularity mismatch is the single most important insight — it predicts which signals will fail before you even run the experiments.</a:t>
            </a:r>
            <a:endParaRPr/>
          </a:p>
        </p:txBody>
      </p:sp>
      <p:sp>
        <p:nvSpPr>
          <p:cNvPr id="60" name="Google Shape;6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2 starts here. 1.5 minutes. Emphasize that the annotation tool was custom-built, and that the κ_subtopic = 0.426 is the meaningful agreement figure — chapter-level is trivially high because both annotators literally used the same YouTube timestamps.</a:t>
            </a: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2. Show this quickly — it demonstrates that the annotation was rigorous and tool-supported. 45 seconds.</a:t>
            </a:r>
            <a:endParaRPr/>
          </a:p>
        </p:txBody>
      </p:sp>
      <p:sp>
        <p:nvSpPr>
          <p:cNvPr id="153" name="Google Shape;15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2. 1.5 minutes. The pipeline is the implementation. Key message: Part 1 (green, fully unsupervised) is the main claim. LLM is diagnostic only — we implemented it but it doesn't improve the core metrics.</a:t>
            </a:r>
            <a:endParaRPr/>
          </a:p>
        </p:txBody>
      </p:sp>
      <p:sp>
        <p:nvSpPr>
          <p:cNvPr id="170" name="Google Shape;17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3 starts here. 1 minute. Make sure everyone understands Pk before the results. The 'student scanning 1-2 minutes' framing is very effective for non-technical audiences.</a:t>
            </a:r>
            <a:endParaRPr/>
          </a:p>
        </p:txBody>
      </p:sp>
      <p:sp>
        <p:nvSpPr>
          <p:cNvPr id="226" name="Google Shape;22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3. 1 minute. The key message: our best result (selector 0.359) is significantly better than all classical baselines. BERT trained on Wikipedia does worse than our unsupervised approach — this shows out-of-domain transfer is the problem.</a:t>
            </a:r>
            <a:endParaRPr/>
          </a:p>
        </p:txBody>
      </p:sp>
      <p:sp>
        <p:nvSpPr>
          <p:cNvPr id="241" name="Google Shape;24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3. 1 minute. The oracle sentence at the bottom is critical — it changes the research agenda. If 96.8% of correct boundaries are already found, the problem is CHOOSING which ones to keep.</a:t>
            </a:r>
            <a:endParaRPr/>
          </a:p>
        </p:txBody>
      </p:sp>
      <p:sp>
        <p:nvSpPr>
          <p:cNvPr id="296" name="Google Shape;29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4 starts here. Walk through the diagram left to right: TRAINING top half shows how we collect the data (run 80 methods × 29 videos = 2320 rows), train ExtraTrees. INFERENCE bottom half: new video arrives, extract 12 features, model predicts Pk for each method, pick the winner. Key limitation: needs related domain in training fold — Math fails because only 4 videos. 1.5 minutes.</a:t>
            </a:r>
            <a:endParaRPr/>
          </a:p>
        </p:txBody>
      </p:sp>
      <p:sp>
        <p:nvSpPr>
          <p:cNvPr id="384" name="Google Shape;38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3 or 4. 1.5 minutes. These are the two most important research findings. Emphasize: the signals are NOT wrong — they detect real things — but they detect the WRONG LEVEL of things. CLIP works because slide changes are literally editorial decisions by the creator.</a:t>
            </a:r>
            <a:endParaRPr/>
          </a:p>
        </p:txBody>
      </p:sp>
      <p:sp>
        <p:nvSpPr>
          <p:cNvPr id="348" name="Google Shape;34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8" name="Google Shape;44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4. 1 minute. The webapp is the concrete deliverable — a researcher or educator can paste any YouTube lecture URL and get chapters immediately. Fully offline, no API keys needed.</a:t>
            </a:r>
            <a:endParaRPr/>
          </a:p>
        </p:txBody>
      </p:sp>
      <p:sp>
        <p:nvSpPr>
          <p:cNvPr id="449" name="Google Shape;44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4. 45 seconds. The CSE420 example is relatable to the committee — it's a course they may know. Chapter titles are generated locally with no internet.</a:t>
            </a:r>
            <a:endParaRPr/>
          </a:p>
        </p:txBody>
      </p:sp>
      <p:sp>
        <p:nvSpPr>
          <p:cNvPr id="466" name="Google Shape;46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4. 1 minute. The external validation is important — it shows the core BGE signal is not overfitting to LecSeg-30. The cross-model degradation is an honest acknowledged limitation.</a:t>
            </a:r>
            <a:endParaRPr/>
          </a:p>
        </p:txBody>
      </p:sp>
      <p:sp>
        <p:nvSpPr>
          <p:cNvPr id="481" name="Google Shape;48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5 starts here. 45 seconds. This slide pre-empts the obvious examiner question: 'but MiniSeg gets better Pk!' Answer: they're supervised on 19,000 videos, we're unsupervised on 30. Different tool for different purpose.</a:t>
            </a:r>
            <a:endParaRPr/>
          </a:p>
        </p:txBody>
      </p:sp>
      <p:sp>
        <p:nvSpPr>
          <p:cNvPr id="512" name="Google Shape;51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5. 45 seconds. Read through these quickly — the committee will have read the thesis. Emphasize C2 and C3 as the novel scientific contributions. C1 and C5 are the infrastructure contributions.</a:t>
            </a:r>
            <a:endParaRPr/>
          </a:p>
        </p:txBody>
      </p:sp>
      <p:sp>
        <p:nvSpPr>
          <p:cNvPr id="568" name="Google Shape;56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5. 1 minute. This slide is strategic — bring it up proactively before the committee asks. Shows intellectual honesty and rigorous self-assessment. The committee will respect that we are clear about what we can and cannot claim.</a:t>
            </a:r>
            <a:endParaRPr/>
          </a:p>
        </p:txBody>
      </p:sp>
      <p:sp>
        <p:nvSpPr>
          <p:cNvPr id="599" name="Google Shape;59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5. 1 minute. Close with the final sentence as a memorable takeaway. Then open to questions. Key question to prepare for: 'Why only 30 videos?' Answer: diagnostic transparency requires seeing every video — at 200k videos you can't inspect failures.</a:t>
            </a:r>
            <a:endParaRPr/>
          </a:p>
        </p:txBody>
      </p:sp>
      <p:sp>
        <p:nvSpPr>
          <p:cNvPr id="630" name="Google Shape;63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eeba753b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g3eeba753b4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 5. 1 minute. Close with the final sentence as a memorable takeaway. Then open to questions. Key question to prepare for: 'Why only 30 videos?' Answer: diagnostic transparency requires seeing every video — at 200k videos you can't inspect failures.</a:t>
            </a:r>
            <a:endParaRPr/>
          </a:p>
        </p:txBody>
      </p:sp>
      <p:sp>
        <p:nvSpPr>
          <p:cNvPr id="660" name="Google Shape;660;g3eeba753b4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mbria"/>
              <a:buNone/>
            </a:pPr>
            <a:r>
              <a:rPr lang="en-US" sz="6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LecSeg-30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A Reproducible Low-Resource Benchmark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and Diagnostic Study for Lecture-Video Topic Segmentation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4320" y="23317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20040" y="235915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REPRODUCIBLE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" y="274320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code &amp; data public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993392" y="23317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039112" y="235915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LOW-RESOURCE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039112" y="274320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videos, no GPU farm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712464" y="23317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6A1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758184" y="235915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758184" y="274320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domains · 419 chapters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431536" y="23317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BF36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477256" y="235915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DIAGNOSTIC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477256" y="274320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works, what fails, why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150608" y="233172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1B5E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196328" y="235915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LECTURE-VIDEO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196328" y="274320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Academic YouTube content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Ismam Khan  ·  Fahmida Afrin Moon  ·  Shahriar Islam Rafi  ·  Alimool Razi  ·  Sadia Alam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Supervisor: Mr. Annajiat Alim Rasel  |  BRAC University · Dept. of CSE · June 2026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D54"/>
                </a:solidFill>
                <a:latin typeface="Cambria"/>
                <a:ea typeface="Cambria"/>
                <a:cs typeface="Cambria"/>
                <a:sym typeface="Cambria"/>
              </a:rPr>
              <a:t>The Problem We're Solving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74320" y="777240"/>
            <a:ext cx="8595360" cy="960120"/>
          </a:xfrm>
          <a:prstGeom prst="roundRect">
            <a:avLst>
              <a:gd name="adj" fmla="val 9524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🎓  You need to review "eigenvalue decomposition" from a 3-hour Linear Algebra recording. What do you do?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Option A: Watch from the beginning (hours wasted)     Option B: Guess a timestamp (50/50 chance)     Option C: Give up and look elsewhere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74320" y="19202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11480" y="20116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📹  Millions of Unnavigable Lectures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11480" y="2359152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YouTube alone hosts millions of academic lectures. Most have zero chapter structure. Students are forced to scrub blindly through recordings.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617720" y="19202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754880" y="20116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⏱️  Hours of Time Wasted Per Student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754880" y="2359152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Without chapter markers, reviewing a single concept in a 3-hour video can take 30+ minutes of seeking. At scale, this is a massive learning inefficiency.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32918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11480" y="33832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💰  Manual Chaptering Doesn't Scale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11480" y="3730752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Hiring staff to manually annotate every lecture is prohibitively expensive. Most universities simply never do it, leaving archives permanently unnavigable.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617720" y="32918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754880" y="33832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🔬  No Good Research Benchmark Existed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54880" y="3730752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Before this work, no compact, reproducible benchmark combined lecture-specific annotation + Pk/WD metrics + statistical rigor + honest failure reporting.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0F2D54"/>
                </a:solidFill>
                <a:latin typeface="Cambria"/>
                <a:ea typeface="Cambria"/>
                <a:cs typeface="Cambria"/>
                <a:sym typeface="Cambria"/>
              </a:rPr>
              <a:t>What Is a "Topic Boundary"? Three Very Different Things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Understanding these three levels is the foundation of our research. Most multimodal methods fail because they operate at level 1 or 2 while trying to predict level 3.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74320" y="96012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74320" y="96012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65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65760" y="9784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1️⃣  Discourse Transition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1536192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E6510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5760" y="153619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FINE-GRAINED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(dozens per chapter)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84048" y="2057400"/>
            <a:ext cx="252374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 shift in rhetorical function — moving from definition → example, or theorem → proof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84048" y="2724912"/>
            <a:ext cx="25237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Detected by: pause duration, pitch changes, discourse markers ("now", "so", "next")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84048" y="3310128"/>
            <a:ext cx="252374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⚠️ These signals are accurate — but they fire at the WRONG level. Far too granular for chapter segmentation.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154680" y="96012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154680" y="96012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246120" y="9784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2️⃣  Semantic Shift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246120" y="1536192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565C0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3246120" y="153619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MEDIUM-GRAINED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(paragraph-level)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264408" y="2057400"/>
            <a:ext cx="252374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 drop in similarity between adjacent blocks of text in an embedding space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264408" y="2724912"/>
            <a:ext cx="25237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Detected by: sentence transformer cosine dissimilarity (BGE-large, E5-large, MPNet)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264408" y="3310128"/>
            <a:ext cx="252374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✅ Best available signal for this task. Operates close to the editorial chapter granularity.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035040" y="96012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035040" y="96012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126480" y="9784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3️⃣  Editorial Chapter Boundary  ← LecSeg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126480" y="1536192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2E7D32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126480" y="153619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COARSE-GRAINED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(4–20 per video)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144768" y="2057400"/>
            <a:ext cx="252374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 timestamp placed deliberately by the video creator to divide the recording into labeled navigational units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144768" y="2724912"/>
            <a:ext cx="252374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Source in LecSeg-30: YouTube chapter metadata (creator-supplied, publicly verifiable)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144768" y="3310128"/>
            <a:ext cx="252374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🎯 This is what LecSeg-30 measures. Our Pk/WD scores measure how well systems match editorial intent.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74320" y="4754880"/>
            <a:ext cx="8595360" cy="320040"/>
          </a:xfrm>
          <a:prstGeom prst="roundRect">
            <a:avLst>
              <a:gd name="adj" fmla="val 22857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takeaway: Prosody, discourse markers, and topic models fire at FINE-GRAINED transitions. YouTube chapters are COARSE (5-20 min). Using fine-grained signals to predict coarse chapters = systematic over-segmentation. This is the Granularity Mismatch — one of our two central findings. This is not noise — it is a systematic granularity mismatch.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6858000" y="16459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85800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LecSeg-30: What We Built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74320" y="713232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274320" y="749808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74320" y="13716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YouTube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Lectures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993392" y="713232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1993392" y="749808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993392" y="13716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Academic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Domains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712464" y="713232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712464" y="749808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32.52h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712464" y="13716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Total Audio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431536" y="713232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431536" y="749808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419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431536" y="13716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Creator Chapter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Boundaries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150608" y="713232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150608" y="749808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904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150608" y="13716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Human-Reviewed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Subtopic Labels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74320" y="2011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Domain Distribution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74320" y="2423160"/>
            <a:ext cx="4114800" cy="411480"/>
          </a:xfrm>
          <a:prstGeom prst="roundRect">
            <a:avLst>
              <a:gd name="adj" fmla="val 15556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74320" y="2423160"/>
            <a:ext cx="2978331" cy="411480"/>
          </a:xfrm>
          <a:prstGeom prst="roundRect">
            <a:avLst>
              <a:gd name="adj" fmla="val 15556"/>
            </a:avLst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11480" y="24231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Biology  (6 videos · 94 chapters)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74320" y="2926080"/>
            <a:ext cx="4114800" cy="411480"/>
          </a:xfrm>
          <a:prstGeom prst="roundRect">
            <a:avLst>
              <a:gd name="adj" fmla="val 15556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74320" y="2926080"/>
            <a:ext cx="3474720" cy="411480"/>
          </a:xfrm>
          <a:prstGeom prst="roundRect">
            <a:avLst>
              <a:gd name="adj" fmla="val 15556"/>
            </a:avLst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11480" y="292608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 Science  (7 videos · 98 chapters)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74320" y="3429000"/>
            <a:ext cx="4114800" cy="411480"/>
          </a:xfrm>
          <a:prstGeom prst="roundRect">
            <a:avLst>
              <a:gd name="adj" fmla="val 15556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274320" y="3429000"/>
            <a:ext cx="1985554" cy="411480"/>
          </a:xfrm>
          <a:prstGeom prst="roundRect">
            <a:avLst>
              <a:gd name="adj" fmla="val 15556"/>
            </a:avLst>
          </a:prstGeom>
          <a:solidFill>
            <a:srgbClr val="E65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11480" y="34290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Mathematics  (4 videos · 55 chapters)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74320" y="3931920"/>
            <a:ext cx="4114800" cy="411480"/>
          </a:xfrm>
          <a:prstGeom prst="roundRect">
            <a:avLst>
              <a:gd name="adj" fmla="val 15556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74320" y="3931920"/>
            <a:ext cx="2978331" cy="411480"/>
          </a:xfrm>
          <a:prstGeom prst="roundRect">
            <a:avLst>
              <a:gd name="adj" fmla="val 15556"/>
            </a:avLst>
          </a:prstGeom>
          <a:solidFill>
            <a:srgbClr val="6A1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11480" y="39319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Philosophy  (6 videos · 122 chapters)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74320" y="4434840"/>
            <a:ext cx="4114800" cy="411480"/>
          </a:xfrm>
          <a:prstGeom prst="roundRect">
            <a:avLst>
              <a:gd name="adj" fmla="val 15556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274320" y="4434840"/>
            <a:ext cx="3474720" cy="411480"/>
          </a:xfrm>
          <a:prstGeom prst="roundRect">
            <a:avLst>
              <a:gd name="adj" fmla="val 15556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11480" y="44348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Physics  (7 videos · 50 chapters)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663440" y="20116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How We Built 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663440" y="2459736"/>
            <a:ext cx="292608" cy="292608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663440" y="24597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029200" y="23957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Selection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029200" y="26517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30 English-language YouTube lectures: ≥15 min, clean audio, 4+ creator chapters, open licensed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663440" y="2999232"/>
            <a:ext cx="292608" cy="292608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663440" y="29992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029200" y="29352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GPU Transcription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029200" y="319125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Whisper large-v3 on RTX 5090 (rented cloud GPU, ~$1 total). 17.9× realtime. Transcripts cached permanently.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663440" y="3538728"/>
            <a:ext cx="292608" cy="292608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663440" y="35387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029200" y="3474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Sentence Splitting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029200" y="373075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spaCy en_core_web_sm splits Whisper segments into sentences. Avg 847 sentences per video.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663440" y="4078224"/>
            <a:ext cx="292608" cy="292608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663440" y="40782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029200" y="401421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Two-Level Annotation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029200" y="427024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Chapter boundaries from YouTube metadata. Subtopic boundaries annotated by 2 human annotators using custom Streamlit tool.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663440" y="4617720"/>
            <a:ext cx="292608" cy="292608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4663440" y="46177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029200" y="455371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Inter-Annotator Check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029200" y="480974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κ_chapter = 0.535 (inflated — both see same YouTube metadata). κ_subtopic = 0.426 (genuine agreement, moderate range).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Custom Streamlit Annotation Interface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749808"/>
            <a:ext cx="530352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/>
          <p:nvPr/>
        </p:nvSpPr>
        <p:spPr>
          <a:xfrm>
            <a:off x="5715000" y="914400"/>
            <a:ext cx="3154680" cy="548640"/>
          </a:xfrm>
          <a:prstGeom prst="roundRect">
            <a:avLst>
              <a:gd name="adj" fmla="val 13333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5806440" y="9144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🟡 Yellow dividers = Creator-provided YouTube chapter boundaries (fixed reference)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715000" y="1645920"/>
            <a:ext cx="3154680" cy="548640"/>
          </a:xfrm>
          <a:prstGeom prst="roundRect">
            <a:avLst>
              <a:gd name="adj" fmla="val 13333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806440" y="16459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🟢 Green markers = Subtopic boundaries placed by human annotators within chapters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715000" y="2377440"/>
            <a:ext cx="3154680" cy="548640"/>
          </a:xfrm>
          <a:prstGeom prst="roundRect">
            <a:avLst>
              <a:gd name="adj" fmla="val 13333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806440" y="23774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📜 Sentence-by-sentence transcript scrolling for precise boundary placement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715000" y="3108960"/>
            <a:ext cx="3154680" cy="548640"/>
          </a:xfrm>
          <a:prstGeom prst="roundRect">
            <a:avLst>
              <a:gd name="adj" fmla="val 13333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5806440" y="31089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🔖 Annotators add 2–5 subtopics per chapter (minimum 60 seconds per segment)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715000" y="3840480"/>
            <a:ext cx="3154680" cy="548640"/>
          </a:xfrm>
          <a:prstGeom prst="roundRect">
            <a:avLst>
              <a:gd name="adj" fmla="val 13333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5806440" y="384048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👥 Two independent annotators worked without seeing each other's output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71"/>
          <p:cNvSpPr txBox="1"/>
          <p:nvPr/>
        </p:nvSpPr>
        <p:spPr>
          <a:xfrm>
            <a:off x="18288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End-to-End Pipeline — Video In, Chapter Timestamps Out</a:t>
            </a:r>
          </a:p>
        </p:txBody>
      </p:sp>
      <p:sp>
        <p:nvSpPr>
          <p:cNvPr id="997" name="rule"/>
          <p:cNvSpPr>
            <a:spLocks noGrp="1"/>
          </p:cNvSpPr>
          <p:nvPr/>
        </p:nvSpPr>
        <p:spPr>
          <a:xfrm>
            <a:off x="182880" y="594360"/>
            <a:ext cx="8778240" cy="0"/>
          </a:xfrm>
          <a:prstGeom prst="line">
            <a:avLst/>
          </a:prstGeom>
          <a:ln w="9525">
            <a:solidFill>
              <a:srgbClr val="3A3F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8" name="Rectangle 997"/>
          <p:cNvSpPr/>
          <p:nvPr/>
        </p:nvSpPr>
        <p:spPr>
          <a:xfrm>
            <a:off x="521208" y="694944"/>
            <a:ext cx="1078992" cy="713232"/>
          </a:xfrm>
          <a:prstGeom prst="rect">
            <a:avLst/>
          </a:prstGeom>
          <a:solidFill>
            <a:srgbClr val="192346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VIDEO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999" name="TextBox 998"/>
          <p:cNvSpPr txBox="1"/>
          <p:nvPr/>
        </p:nvSpPr>
        <p:spPr>
          <a:xfrm>
            <a:off x="1563624" y="941831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C3D7"/>
                </a:solidFill>
              </a:rPr>
              <a:t>▶</a:t>
            </a:r>
          </a:p>
        </p:txBody>
      </p:sp>
      <p:sp>
        <p:nvSpPr>
          <p:cNvPr id="1000" name="Rectangle 999"/>
          <p:cNvSpPr/>
          <p:nvPr/>
        </p:nvSpPr>
        <p:spPr>
          <a:xfrm>
            <a:off x="1691640" y="694944"/>
            <a:ext cx="1078992" cy="713232"/>
          </a:xfrm>
          <a:prstGeom prst="rect">
            <a:avLst/>
          </a:prstGeom>
          <a:solidFill>
            <a:srgbClr val="123764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WHISPER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Transcription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2734056" y="941831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C3D7"/>
                </a:solidFill>
              </a:rPr>
              <a:t>▶</a:t>
            </a:r>
          </a:p>
        </p:txBody>
      </p:sp>
      <p:sp>
        <p:nvSpPr>
          <p:cNvPr id="1002" name="Rectangle 1001"/>
          <p:cNvSpPr/>
          <p:nvPr/>
        </p:nvSpPr>
        <p:spPr>
          <a:xfrm>
            <a:off x="2862072" y="694944"/>
            <a:ext cx="1078992" cy="713232"/>
          </a:xfrm>
          <a:prstGeom prst="rect">
            <a:avLst/>
          </a:prstGeom>
          <a:solidFill>
            <a:srgbClr val="123764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spaCy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Sentences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3904488" y="941831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C3D7"/>
                </a:solidFill>
              </a:rPr>
              <a:t>▶</a:t>
            </a:r>
          </a:p>
        </p:txBody>
      </p:sp>
      <p:sp>
        <p:nvSpPr>
          <p:cNvPr id="1004" name="Rectangle 1003"/>
          <p:cNvSpPr/>
          <p:nvPr/>
        </p:nvSpPr>
        <p:spPr>
          <a:xfrm>
            <a:off x="4032504" y="694944"/>
            <a:ext cx="1078992" cy="713232"/>
          </a:xfrm>
          <a:prstGeom prst="rect">
            <a:avLst/>
          </a:prstGeom>
          <a:solidFill>
            <a:srgbClr val="0F506E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BGE + E5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Embeddings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5074920" y="941831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C3D7"/>
                </a:solidFill>
              </a:rPr>
              <a:t>▶</a:t>
            </a:r>
          </a:p>
        </p:txBody>
      </p:sp>
      <p:sp>
        <p:nvSpPr>
          <p:cNvPr id="1006" name="Rectangle 1005"/>
          <p:cNvSpPr/>
          <p:nvPr/>
        </p:nvSpPr>
        <p:spPr>
          <a:xfrm>
            <a:off x="5202936" y="694944"/>
            <a:ext cx="1078992" cy="713232"/>
          </a:xfrm>
          <a:prstGeom prst="rect">
            <a:avLst/>
          </a:prstGeom>
          <a:solidFill>
            <a:srgbClr val="145F3C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Cosine Score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Curve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6245352" y="941831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C3D7"/>
                </a:solidFill>
              </a:rPr>
              <a:t>▶</a:t>
            </a:r>
          </a:p>
        </p:txBody>
      </p:sp>
      <p:sp>
        <p:nvSpPr>
          <p:cNvPr id="1008" name="Rectangle 1007"/>
          <p:cNvSpPr/>
          <p:nvPr/>
        </p:nvSpPr>
        <p:spPr>
          <a:xfrm>
            <a:off x="6373368" y="694944"/>
            <a:ext cx="1078992" cy="713232"/>
          </a:xfrm>
          <a:prstGeom prst="rect">
            <a:avLst/>
          </a:prstGeom>
          <a:solidFill>
            <a:srgbClr val="4B2364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Candidate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Pool (~40/hr)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7415784" y="941831"/>
            <a:ext cx="164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EC3D7"/>
                </a:solidFill>
              </a:rPr>
              <a:t>▶</a:t>
            </a:r>
          </a:p>
        </p:txBody>
      </p:sp>
      <p:sp>
        <p:nvSpPr>
          <p:cNvPr id="1010" name="Rectangle 1009"/>
          <p:cNvSpPr/>
          <p:nvPr/>
        </p:nvSpPr>
        <p:spPr>
          <a:xfrm>
            <a:off x="7543800" y="694944"/>
            <a:ext cx="1078992" cy="713232"/>
          </a:xfrm>
          <a:prstGeom prst="rect">
            <a:avLst/>
          </a:prstGeom>
          <a:solidFill>
            <a:srgbClr val="6E410F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Output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Timestamps</a:t>
            </a:r>
          </a:p>
        </p:txBody>
      </p:sp>
      <p:sp>
        <p:nvSpPr>
          <p:cNvPr id="1011" name="Rectangle 1010"/>
          <p:cNvSpPr/>
          <p:nvPr/>
        </p:nvSpPr>
        <p:spPr>
          <a:xfrm>
            <a:off x="182880" y="1481328"/>
            <a:ext cx="8778240" cy="347472"/>
          </a:xfrm>
          <a:prstGeom prst="rect">
            <a:avLst/>
          </a:prstGeom>
          <a:solidFill>
            <a:srgbClr val="003C3C"/>
          </a:solidFill>
          <a:ln w="9525">
            <a:solidFill>
              <a:srgbClr val="00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0C8B4"/>
                </a:solidFill>
              </a:rPr>
              <a:t>METHOD SELECTOR  —  runs BEFORE segmentation  —  reads video features → picks algorithm config → THEN pipeline runs</a:t>
            </a:r>
          </a:p>
        </p:txBody>
      </p:sp>
      <p:sp>
        <p:nvSpPr>
          <p:cNvPr id="1012" name="Rectangle 1011"/>
          <p:cNvSpPr/>
          <p:nvPr/>
        </p:nvSpPr>
        <p:spPr>
          <a:xfrm>
            <a:off x="265176" y="1920240"/>
            <a:ext cx="2084831" cy="1115568"/>
          </a:xfrm>
          <a:prstGeom prst="rect">
            <a:avLst/>
          </a:prstGeom>
          <a:solidFill>
            <a:srgbClr val="0A1023"/>
          </a:solidFill>
          <a:ln w="9525">
            <a:solidFill>
              <a:srgbClr val="6E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3" name="Rectangle 1012"/>
          <p:cNvSpPr/>
          <p:nvPr/>
        </p:nvSpPr>
        <p:spPr>
          <a:xfrm>
            <a:off x="265176" y="1920240"/>
            <a:ext cx="2084831" cy="292608"/>
          </a:xfrm>
          <a:prstGeom prst="rect">
            <a:avLst/>
          </a:prstGeom>
          <a:solidFill>
            <a:srgbClr val="5A192D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N1 — Two-Stage Predictor</a:t>
            </a:r>
          </a:p>
        </p:txBody>
      </p:sp>
      <p:sp>
        <p:nvSpPr>
          <p:cNvPr id="1014" name="TextBox 1013"/>
          <p:cNvSpPr txBox="1"/>
          <p:nvPr/>
        </p:nvSpPr>
        <p:spPr>
          <a:xfrm>
            <a:off x="338328" y="2240280"/>
            <a:ext cx="193852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3D7"/>
                </a:solidFill>
              </a:rPr>
              <a:t>Stage 1: low threshold → 40 candidates, 96.8% recall
Stage 2: BGE AND E5 agree + min 11 sentences</a:t>
            </a:r>
          </a:p>
        </p:txBody>
      </p:sp>
      <p:sp>
        <p:nvSpPr>
          <p:cNvPr id="1015" name="Rectangle 1014"/>
          <p:cNvSpPr/>
          <p:nvPr/>
        </p:nvSpPr>
        <p:spPr>
          <a:xfrm>
            <a:off x="2441448" y="1920240"/>
            <a:ext cx="2084831" cy="1115568"/>
          </a:xfrm>
          <a:prstGeom prst="rect">
            <a:avLst/>
          </a:prstGeom>
          <a:solidFill>
            <a:srgbClr val="0A1023"/>
          </a:solidFill>
          <a:ln w="9525">
            <a:solidFill>
              <a:srgbClr val="825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6" name="Rectangle 1015"/>
          <p:cNvSpPr/>
          <p:nvPr/>
        </p:nvSpPr>
        <p:spPr>
          <a:xfrm>
            <a:off x="2441448" y="1920240"/>
            <a:ext cx="2084831" cy="292608"/>
          </a:xfrm>
          <a:prstGeom prst="rect">
            <a:avLst/>
          </a:prstGeom>
          <a:solidFill>
            <a:srgbClr val="6E500A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N2 — Entropy-Weighted Fusion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2514600" y="2240280"/>
            <a:ext cx="193852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3D7"/>
                </a:solidFill>
              </a:rPr>
              <a:t>Combines text+CLIP+OCR+prosody
Weight = exp(−entropy): noisy = low weight</a:t>
            </a:r>
          </a:p>
        </p:txBody>
      </p:sp>
      <p:sp>
        <p:nvSpPr>
          <p:cNvPr id="1018" name="Rectangle 1017"/>
          <p:cNvSpPr/>
          <p:nvPr/>
        </p:nvSpPr>
        <p:spPr>
          <a:xfrm>
            <a:off x="4617720" y="1920240"/>
            <a:ext cx="2084831" cy="1115568"/>
          </a:xfrm>
          <a:prstGeom prst="rect">
            <a:avLst/>
          </a:prstGeom>
          <a:solidFill>
            <a:srgbClr val="0A1023"/>
          </a:solidFill>
          <a:ln w="9525">
            <a:solidFill>
              <a:srgbClr val="4623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9" name="Rectangle 1018"/>
          <p:cNvSpPr/>
          <p:nvPr/>
        </p:nvSpPr>
        <p:spPr>
          <a:xfrm>
            <a:off x="4617720" y="1920240"/>
            <a:ext cx="2084831" cy="292608"/>
          </a:xfrm>
          <a:prstGeom prst="rect">
            <a:avLst/>
          </a:prstGeom>
          <a:solidFill>
            <a:srgbClr val="371964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N3 — Hierarchical Nesting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4690872" y="2240280"/>
            <a:ext cx="193852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3D7"/>
                </a:solidFill>
              </a:rPr>
              <a:t>Runs predictor TWICE:
Chapters (5-20min) ⊃ Subtopics (2-5min)</a:t>
            </a:r>
          </a:p>
        </p:txBody>
      </p:sp>
      <p:sp>
        <p:nvSpPr>
          <p:cNvPr id="1021" name="Rectangle 1020"/>
          <p:cNvSpPr/>
          <p:nvPr/>
        </p:nvSpPr>
        <p:spPr>
          <a:xfrm>
            <a:off x="6793992" y="1920240"/>
            <a:ext cx="2084831" cy="1115568"/>
          </a:xfrm>
          <a:prstGeom prst="rect">
            <a:avLst/>
          </a:prstGeom>
          <a:solidFill>
            <a:srgbClr val="0A1023"/>
          </a:solidFill>
          <a:ln w="9525">
            <a:solidFill>
              <a:srgbClr val="784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2" name="Rectangle 1021"/>
          <p:cNvSpPr/>
          <p:nvPr/>
        </p:nvSpPr>
        <p:spPr>
          <a:xfrm>
            <a:off x="6793992" y="1920240"/>
            <a:ext cx="2084831" cy="292608"/>
          </a:xfrm>
          <a:prstGeom prst="rect">
            <a:avLst/>
          </a:prstGeom>
          <a:solidFill>
            <a:srgbClr val="64370A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N4 — Offline LLM Titling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6867144" y="2240280"/>
            <a:ext cx="193852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EC3D7"/>
                </a:solidFill>
              </a:rPr>
              <a:t>Llama 3.1-8B via Ollama (fully offline)
Reads transcript → chapter title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182880" y="3090672"/>
            <a:ext cx="8778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28CA5"/>
                </a:solidFill>
              </a:rPr>
              <a:t>BGE-divisive = baseline (no N1-N4). Cross-model = BGE×E5 agreement only. Selector = ExtraTrees picks best config per video.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BC118-0324-5E8D-4105-48A73E5039DA}"/>
              </a:ext>
            </a:extLst>
          </p:cNvPr>
          <p:cNvSpPr txBox="1"/>
          <p:nvPr/>
        </p:nvSpPr>
        <p:spPr>
          <a:xfrm>
            <a:off x="2286000" y="241698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66EF1-85B0-7BEE-0748-D58EBD773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5" y="-1"/>
            <a:ext cx="9183390" cy="51684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71"/>
          <p:cNvSpPr txBox="1"/>
          <p:nvPr/>
        </p:nvSpPr>
        <p:spPr>
          <a:xfrm>
            <a:off x="18288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How Segmentation Works — From Sentences to Timestamps</a:t>
            </a:r>
          </a:p>
        </p:txBody>
      </p:sp>
      <p:sp>
        <p:nvSpPr>
          <p:cNvPr id="997" name="rule"/>
          <p:cNvSpPr>
            <a:spLocks noGrp="1"/>
          </p:cNvSpPr>
          <p:nvPr/>
        </p:nvSpPr>
        <p:spPr>
          <a:xfrm>
            <a:off x="182880" y="594360"/>
            <a:ext cx="8778240" cy="0"/>
          </a:xfrm>
          <a:prstGeom prst="line">
            <a:avLst/>
          </a:prstGeom>
          <a:ln w="9525">
            <a:solidFill>
              <a:srgbClr val="3A3F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8" name="Rectangle 997"/>
          <p:cNvSpPr/>
          <p:nvPr/>
        </p:nvSpPr>
        <p:spPr>
          <a:xfrm>
            <a:off x="182880" y="667512"/>
            <a:ext cx="2798064" cy="4402836"/>
          </a:xfrm>
          <a:prstGeom prst="rect">
            <a:avLst/>
          </a:prstGeom>
          <a:solidFill>
            <a:srgbClr val="0E1837"/>
          </a:solidFill>
          <a:ln w="9525">
            <a:solidFill>
              <a:srgbClr val="1E3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9" name="Rectangle 998"/>
          <p:cNvSpPr/>
          <p:nvPr/>
        </p:nvSpPr>
        <p:spPr>
          <a:xfrm>
            <a:off x="3108960" y="667512"/>
            <a:ext cx="2798064" cy="4402836"/>
          </a:xfrm>
          <a:prstGeom prst="rect">
            <a:avLst/>
          </a:prstGeom>
          <a:solidFill>
            <a:srgbClr val="0E2C22"/>
          </a:solidFill>
          <a:ln w="9525">
            <a:solidFill>
              <a:srgbClr val="19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0" name="Rectangle 999"/>
          <p:cNvSpPr/>
          <p:nvPr/>
        </p:nvSpPr>
        <p:spPr>
          <a:xfrm>
            <a:off x="6035040" y="667512"/>
            <a:ext cx="2798064" cy="4402836"/>
          </a:xfrm>
          <a:prstGeom prst="rect">
            <a:avLst/>
          </a:prstGeom>
          <a:solidFill>
            <a:srgbClr val="22143A"/>
          </a:solidFill>
          <a:ln w="9525">
            <a:solidFill>
              <a:srgbClr val="4B2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1" name="Rectangle 1000"/>
          <p:cNvSpPr/>
          <p:nvPr/>
        </p:nvSpPr>
        <p:spPr>
          <a:xfrm>
            <a:off x="182880" y="667512"/>
            <a:ext cx="2798064" cy="329184"/>
          </a:xfrm>
          <a:prstGeom prst="rect">
            <a:avLst/>
          </a:prstGeom>
          <a:solidFill>
            <a:srgbClr val="1E3A78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1 — Sentence Embedding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274320" y="1033271"/>
            <a:ext cx="2615184" cy="398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64B4FF"/>
                </a:solidFill>
              </a:rPr>
              <a:t>Each sentence → 1024-dim vector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Model: BGE-large-en-v1.5 + E5-large-v2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50C878"/>
                </a:solidFill>
              </a:rPr>
              <a:t>Same topic → vectors CLOSE together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e.g. 'eigenvalue' ↔ 'diagonal matrix'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06450"/>
                </a:solidFill>
              </a:rPr>
              <a:t>Diff. topic → vectors FAR apart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e.g. 'eigenvalue' ↔ 'natural selection'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64B4FF"/>
                </a:solidFill>
              </a:rPr>
              <a:t>Step 2 — Sliding Window Score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At position i: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Before = avg(3 sentences before i)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After  = avg(3 sentences after i)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Score  = 1 − cosine_sim(Before, After)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FD246"/>
                </a:solidFill>
              </a:rPr>
              <a:t>HIGH score → meaning changed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LOW score  → same topic continues</a:t>
            </a:r>
          </a:p>
        </p:txBody>
      </p:sp>
      <p:sp>
        <p:nvSpPr>
          <p:cNvPr id="1003" name="Rectangle 1002"/>
          <p:cNvSpPr/>
          <p:nvPr/>
        </p:nvSpPr>
        <p:spPr>
          <a:xfrm>
            <a:off x="3108960" y="667512"/>
            <a:ext cx="2798064" cy="329184"/>
          </a:xfrm>
          <a:prstGeom prst="rect">
            <a:avLst/>
          </a:prstGeom>
          <a:solidFill>
            <a:srgbClr val="145037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3 — Peak Detection</a:t>
            </a:r>
          </a:p>
        </p:txBody>
      </p:sp>
      <p:pic>
        <p:nvPicPr>
          <p:cNvPr id="1004" name="Picture 1003" descr="how_seg_work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033271"/>
            <a:ext cx="2706624" cy="2148840"/>
          </a:xfrm>
          <a:prstGeom prst="rect">
            <a:avLst/>
          </a:prstGeom>
        </p:spPr>
      </p:pic>
      <p:sp>
        <p:nvSpPr>
          <p:cNvPr id="1005" name="TextBox 1004"/>
          <p:cNvSpPr txBox="1"/>
          <p:nvPr/>
        </p:nvSpPr>
        <p:spPr>
          <a:xfrm>
            <a:off x="3200400" y="3246120"/>
            <a:ext cx="2615184" cy="1769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50C878"/>
                </a:solidFill>
              </a:rPr>
              <a:t>Peaks in score curve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= boundary candidates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B4C8FF"/>
                </a:solidFill>
              </a:rPr>
              <a:t>Filter rules: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• BGE AND E5 must agree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• Min 11 sentences apart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• (~90 sec minimum gap)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FD246"/>
                </a:solidFill>
              </a:rPr>
              <a:t>Result: ~40 candidates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96.8% recall of true boundaries</a:t>
            </a:r>
          </a:p>
        </p:txBody>
      </p:sp>
      <p:sp>
        <p:nvSpPr>
          <p:cNvPr id="1006" name="Rectangle 1005"/>
          <p:cNvSpPr/>
          <p:nvPr/>
        </p:nvSpPr>
        <p:spPr>
          <a:xfrm>
            <a:off x="6035040" y="667512"/>
            <a:ext cx="2798064" cy="329184"/>
          </a:xfrm>
          <a:prstGeom prst="rect">
            <a:avLst/>
          </a:prstGeom>
          <a:solidFill>
            <a:srgbClr val="4B2612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4 — Timestamps + Titles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6126480" y="1033271"/>
            <a:ext cx="2615184" cy="398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D246"/>
                </a:solidFill>
              </a:rPr>
              <a:t>Boundary sentence index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→ Whisper word timestamp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→ HH:MM:SS format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B4C8FF"/>
                </a:solidFill>
              </a:rPr>
              <a:t>Example output: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50C878"/>
                </a:solidFill>
              </a:rPr>
              <a:t>[00:00]  Introduction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50C878"/>
                </a:solidFill>
              </a:rPr>
              <a:t>[15:30]  Eigenvalues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50C878"/>
                </a:solidFill>
              </a:rPr>
              <a:t>[28:45]  Diagonalization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50C878"/>
                </a:solidFill>
              </a:rPr>
              <a:t>[42:00]  Applications</a:t>
            </a:r>
          </a:p>
          <a:p>
            <a:pPr>
              <a:spcAft>
                <a:spcPts val="100"/>
              </a:spcAft>
            </a:pPr>
            <a:endParaRPr sz="900" b="0">
              <a:solidFill>
                <a:srgbClr val="50C878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B4C8FF"/>
                </a:solidFill>
              </a:rPr>
              <a:t>N4 (Llama 3.1-8B offline):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Reads transcript text near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each boundary → generates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the chapter title shown above.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FD246"/>
                </a:solidFill>
              </a:rPr>
              <a:t>Paste into YouTube →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instant chapter navigation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71"/>
          <p:cNvSpPr txBox="1"/>
          <p:nvPr/>
        </p:nvSpPr>
        <p:spPr>
          <a:xfrm>
            <a:off x="18288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Our Four Novel Contributions — N1 to N4</a:t>
            </a:r>
          </a:p>
        </p:txBody>
      </p:sp>
      <p:sp>
        <p:nvSpPr>
          <p:cNvPr id="997" name="rule"/>
          <p:cNvSpPr>
            <a:spLocks noGrp="1"/>
          </p:cNvSpPr>
          <p:nvPr/>
        </p:nvSpPr>
        <p:spPr>
          <a:xfrm>
            <a:off x="182880" y="594360"/>
            <a:ext cx="8778240" cy="0"/>
          </a:xfrm>
          <a:prstGeom prst="line">
            <a:avLst/>
          </a:prstGeom>
          <a:ln w="9525">
            <a:solidFill>
              <a:srgbClr val="3A3F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8" name="Rectangle 997"/>
          <p:cNvSpPr/>
          <p:nvPr/>
        </p:nvSpPr>
        <p:spPr>
          <a:xfrm>
            <a:off x="182880" y="667512"/>
            <a:ext cx="4343400" cy="2084831"/>
          </a:xfrm>
          <a:prstGeom prst="rect">
            <a:avLst/>
          </a:prstGeom>
          <a:solidFill>
            <a:srgbClr val="0A1023"/>
          </a:solidFill>
          <a:ln w="9525">
            <a:solidFill>
              <a:srgbClr val="122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9" name="Rectangle 998"/>
          <p:cNvSpPr/>
          <p:nvPr/>
        </p:nvSpPr>
        <p:spPr>
          <a:xfrm>
            <a:off x="182880" y="667512"/>
            <a:ext cx="4343400" cy="301752"/>
          </a:xfrm>
          <a:prstGeom prst="rect">
            <a:avLst/>
          </a:prstGeom>
          <a:solidFill>
            <a:srgbClr val="193269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N1 — Two-Stage Predictor</a:t>
            </a:r>
          </a:p>
        </p:txBody>
      </p:sp>
      <p:sp>
        <p:nvSpPr>
          <p:cNvPr id="1000" name="TextBox 999"/>
          <p:cNvSpPr txBox="1"/>
          <p:nvPr/>
        </p:nvSpPr>
        <p:spPr>
          <a:xfrm>
            <a:off x="274320" y="1005840"/>
            <a:ext cx="4160520" cy="163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Problem: one threshold misses real boundaries (too high) or adds noise (too low).</a:t>
            </a:r>
          </a:p>
          <a:p>
            <a:pPr>
              <a:spcAft>
                <a:spcPts val="100"/>
              </a:spcAft>
            </a:pPr>
            <a:endParaRPr sz="800" b="0" dirty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800" b="1" dirty="0">
                <a:solidFill>
                  <a:srgbClr val="64B4FF"/>
                </a:solidFill>
              </a:rPr>
              <a:t>Stage 1 — low threshold → large candidate pool:</a:t>
            </a:r>
          </a:p>
          <a:p>
            <a:pPr>
              <a:spcAft>
                <a:spcPts val="100"/>
              </a:spcAft>
            </a:pPr>
            <a:r>
              <a:rPr sz="700" b="0" dirty="0">
                <a:solidFill>
                  <a:srgbClr val="BEC3D7"/>
                </a:solidFill>
              </a:rPr>
              <a:t>  ~40 candidates per hour of video. 96.8% of real boundaries captured.</a:t>
            </a:r>
          </a:p>
          <a:p>
            <a:pPr>
              <a:spcAft>
                <a:spcPts val="100"/>
              </a:spcAft>
            </a:pPr>
            <a:r>
              <a:rPr sz="700" b="0" dirty="0">
                <a:solidFill>
                  <a:srgbClr val="BEC3D7"/>
                </a:solidFill>
              </a:rPr>
              <a:t>  Goal is RECALL — get every real boundary into the pool.</a:t>
            </a:r>
          </a:p>
          <a:p>
            <a:pPr>
              <a:spcAft>
                <a:spcPts val="100"/>
              </a:spcAft>
            </a:pPr>
            <a:endParaRPr sz="700" b="0" dirty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800" b="1" dirty="0">
                <a:solidFill>
                  <a:srgbClr val="64B4FF"/>
                </a:solidFill>
              </a:rPr>
              <a:t>Stage 2 — cross-model filter:</a:t>
            </a:r>
          </a:p>
          <a:p>
            <a:pPr>
              <a:spcAft>
                <a:spcPts val="100"/>
              </a:spcAft>
            </a:pPr>
            <a:r>
              <a:rPr sz="700" b="0" dirty="0">
                <a:solidFill>
                  <a:srgbClr val="BEC3D7"/>
                </a:solidFill>
              </a:rPr>
              <a:t>  BGE AND E5 must both agree on the same peak.</a:t>
            </a:r>
          </a:p>
          <a:p>
            <a:pPr>
              <a:spcAft>
                <a:spcPts val="100"/>
              </a:spcAft>
            </a:pPr>
            <a:r>
              <a:rPr sz="700" b="0" dirty="0">
                <a:solidFill>
                  <a:srgbClr val="BEC3D7"/>
                </a:solidFill>
              </a:rPr>
              <a:t>  Minimum 11 sentences (≈90 sec) between any two boundaries.</a:t>
            </a:r>
          </a:p>
          <a:p>
            <a:pPr>
              <a:spcAft>
                <a:spcPts val="100"/>
              </a:spcAft>
            </a:pPr>
            <a:endParaRPr sz="700" b="0" dirty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800" b="1" dirty="0">
                <a:solidFill>
                  <a:srgbClr val="FFD246"/>
                </a:solidFill>
              </a:rPr>
              <a:t>Why novel: prior unsupervised work uses a single threshold.</a:t>
            </a:r>
          </a:p>
          <a:p>
            <a:pPr>
              <a:spcAft>
                <a:spcPts val="100"/>
              </a:spcAft>
            </a:pPr>
            <a:r>
              <a:rPr sz="700" b="0" dirty="0">
                <a:solidFill>
                  <a:srgbClr val="BEC3D7"/>
                </a:solidFill>
              </a:rPr>
              <a:t>Oracle Pk=0.0172 confirms Stage 1 pool is excellent.</a:t>
            </a:r>
          </a:p>
        </p:txBody>
      </p:sp>
      <p:sp>
        <p:nvSpPr>
          <p:cNvPr id="1001" name="Rectangle 1000"/>
          <p:cNvSpPr/>
          <p:nvPr/>
        </p:nvSpPr>
        <p:spPr>
          <a:xfrm>
            <a:off x="4617720" y="667512"/>
            <a:ext cx="4343400" cy="2084831"/>
          </a:xfrm>
          <a:prstGeom prst="rect">
            <a:avLst/>
          </a:prstGeom>
          <a:solidFill>
            <a:srgbClr val="0A1023"/>
          </a:solidFill>
          <a:ln w="9525">
            <a:solidFill>
              <a:srgbClr val="0F4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2" name="Rectangle 1001"/>
          <p:cNvSpPr/>
          <p:nvPr/>
        </p:nvSpPr>
        <p:spPr>
          <a:xfrm>
            <a:off x="4617720" y="667512"/>
            <a:ext cx="4343400" cy="301752"/>
          </a:xfrm>
          <a:prstGeom prst="rect">
            <a:avLst/>
          </a:prstGeom>
          <a:solidFill>
            <a:srgbClr val="145F34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N2 — Entropy-Weighted Fusion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709159" y="1005840"/>
            <a:ext cx="41605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dirty="0">
                <a:solidFill>
                  <a:srgbClr val="BEC3D7"/>
                </a:solidFill>
              </a:rPr>
              <a:t>Problem: how to combine text, visual, audio without labeled training data?</a:t>
            </a:r>
          </a:p>
          <a:p>
            <a:pPr>
              <a:spcAft>
                <a:spcPts val="100"/>
              </a:spcAft>
            </a:pPr>
            <a:endParaRPr sz="900" b="0" dirty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 dirty="0">
                <a:solidFill>
                  <a:srgbClr val="50C878"/>
                </a:solidFill>
              </a:rPr>
              <a:t>Weight = exp(−entropy(signal))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  Confident signal → low entropy → HIGH weight (e.g. CLIP on slide-heavy video)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  Noisy signal    → high entropy → LOW weight (auto-discarded)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  System adapts PER VIDEO — no fixed weights, no training data needed.</a:t>
            </a:r>
          </a:p>
          <a:p>
            <a:pPr>
              <a:spcAft>
                <a:spcPts val="100"/>
              </a:spcAft>
            </a:pPr>
            <a:endParaRPr sz="800" b="0" dirty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Signals: BGE text  +  CLIP visual  +  OCR slide text  +  prosody pauses</a:t>
            </a:r>
          </a:p>
          <a:p>
            <a:pPr>
              <a:spcAft>
                <a:spcPts val="100"/>
              </a:spcAft>
            </a:pPr>
            <a:endParaRPr sz="800" b="0" dirty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 dirty="0">
                <a:solidFill>
                  <a:srgbClr val="FFD246"/>
                </a:solidFill>
              </a:rPr>
              <a:t>Why novel: prior fusion work requires a labeled dataset to learn weights.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We operate in zero-labeled-data regime — this is the only viable approach.</a:t>
            </a:r>
          </a:p>
        </p:txBody>
      </p:sp>
      <p:sp>
        <p:nvSpPr>
          <p:cNvPr id="1004" name="Rectangle 1003"/>
          <p:cNvSpPr/>
          <p:nvPr/>
        </p:nvSpPr>
        <p:spPr>
          <a:xfrm>
            <a:off x="182880" y="2843784"/>
            <a:ext cx="4343400" cy="2084831"/>
          </a:xfrm>
          <a:prstGeom prst="rect">
            <a:avLst/>
          </a:prstGeom>
          <a:solidFill>
            <a:srgbClr val="0A1023"/>
          </a:solidFill>
          <a:ln w="9525">
            <a:solidFill>
              <a:srgbClr val="2E1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5" name="Rectangle 1004"/>
          <p:cNvSpPr/>
          <p:nvPr/>
        </p:nvSpPr>
        <p:spPr>
          <a:xfrm>
            <a:off x="182880" y="2843784"/>
            <a:ext cx="4343400" cy="301752"/>
          </a:xfrm>
          <a:prstGeom prst="rect">
            <a:avLst/>
          </a:prstGeom>
          <a:solidFill>
            <a:srgbClr val="3E1C6C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N3 — Hierarchical Nesting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274320" y="3182112"/>
            <a:ext cx="41605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 dirty="0">
                <a:solidFill>
                  <a:srgbClr val="BEC3D7"/>
                </a:solidFill>
              </a:rPr>
              <a:t>Problem: all prior unsupervised systems output ONE level of segmentation.</a:t>
            </a:r>
          </a:p>
          <a:p>
            <a:pPr>
              <a:spcAft>
                <a:spcPts val="100"/>
              </a:spcAft>
            </a:pPr>
            <a:endParaRPr sz="900" b="0" dirty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 dirty="0">
                <a:solidFill>
                  <a:srgbClr val="C896FF"/>
                </a:solidFill>
              </a:rPr>
              <a:t>Solution — run the predictor TWICE: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  Run 1 (coarse):  chapter level  — boundaries every 5-20 minutes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  Run 2 (fine):    subtopic level — boundaries every 2-5 minutes</a:t>
            </a:r>
          </a:p>
          <a:p>
            <a:pPr>
              <a:spcAft>
                <a:spcPts val="100"/>
              </a:spcAft>
            </a:pPr>
            <a:endParaRPr sz="800" b="0" dirty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Constraint: every chapter boundary IS a subtopic boundary (enforced).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  Hierarchically valid — a major topic change is also a subtopic change.</a:t>
            </a:r>
          </a:p>
          <a:p>
            <a:pPr>
              <a:spcAft>
                <a:spcPts val="100"/>
              </a:spcAft>
            </a:pPr>
            <a:endParaRPr sz="800" b="0" dirty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 dirty="0">
                <a:solidFill>
                  <a:srgbClr val="FFD246"/>
                </a:solidFill>
              </a:rPr>
              <a:t>Why novel: prior work is single-level. Our subtopic annotation (Kappa=0.71)</a:t>
            </a:r>
          </a:p>
          <a:p>
            <a:pPr>
              <a:spcAft>
                <a:spcPts val="100"/>
              </a:spcAft>
            </a:pPr>
            <a:r>
              <a:rPr sz="800" b="0" dirty="0">
                <a:solidFill>
                  <a:srgbClr val="BEC3D7"/>
                </a:solidFill>
              </a:rPr>
              <a:t>is what made this contribution possible.</a:t>
            </a:r>
          </a:p>
        </p:txBody>
      </p:sp>
      <p:sp>
        <p:nvSpPr>
          <p:cNvPr id="1007" name="Rectangle 1006"/>
          <p:cNvSpPr/>
          <p:nvPr/>
        </p:nvSpPr>
        <p:spPr>
          <a:xfrm>
            <a:off x="4617720" y="2843784"/>
            <a:ext cx="4343400" cy="2084831"/>
          </a:xfrm>
          <a:prstGeom prst="rect">
            <a:avLst/>
          </a:prstGeom>
          <a:solidFill>
            <a:srgbClr val="0A1023"/>
          </a:solidFill>
          <a:ln w="9525">
            <a:solidFill>
              <a:srgbClr val="522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8" name="Rectangle 1007"/>
          <p:cNvSpPr/>
          <p:nvPr/>
        </p:nvSpPr>
        <p:spPr>
          <a:xfrm>
            <a:off x="4617720" y="2843784"/>
            <a:ext cx="4343400" cy="301752"/>
          </a:xfrm>
          <a:prstGeom prst="rect">
            <a:avLst/>
          </a:prstGeom>
          <a:solidFill>
            <a:srgbClr val="6C3A0C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N4 — Offline LLM Titling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4709159" y="3182112"/>
            <a:ext cx="41605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>
                <a:solidFill>
                  <a:srgbClr val="BEC3D7"/>
                </a:solidFill>
              </a:rPr>
              <a:t>Problem: timestamps alone are not human-readable navigation labels.</a:t>
            </a:r>
          </a:p>
          <a:p>
            <a:pPr>
              <a:spcAft>
                <a:spcPts val="100"/>
              </a:spcAft>
            </a:pPr>
            <a:endParaRPr sz="9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FD246"/>
                </a:solidFill>
              </a:rPr>
              <a:t>Solution — Llama 3.1-8B via Ollama: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Reads 10-15 sentences around each boundary.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Generates a chapter title: [15:30] Eigenvalue Decomposition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Fully OFFLINE — no internet, no API key, runs on any laptop.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Pk is UNCHANGED — titles do not affect boundary positions.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  Proves the rest of the pipeline is independently sound.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FD246"/>
                </a:solidFill>
              </a:rPr>
              <a:t>Why novel: prior systems output raw timestamps only.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Offline deployment makes this viable for low-resource universities.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We Measure: Pk and WindowDiff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274320" y="749808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57200" y="8229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What is Pk? (Plain English)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57200" y="1170432"/>
            <a:ext cx="512064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Imagine sliding a window of ~k sentences across the lecture transcript.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At each window position, ask: do the predicted segments agree with the creator chapters about whether a boundary falls inside this window?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Pk = the fraction of windows where they DISAGREE.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• Pk = 0.5  →  random chance (no better than guessing)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• Pk = 0.0  →  perfect (every window matches exactly)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• Our best: Pk = 0.359  →  disagree only 36% of the time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943600" y="749808"/>
            <a:ext cx="2926080" cy="2286000"/>
          </a:xfrm>
          <a:prstGeom prst="roundRect">
            <a:avLst>
              <a:gd name="adj" fmla="val 4800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035040" y="8229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Why Not Exact-Match F1?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035040" y="1170432"/>
            <a:ext cx="274320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For navigation, a boundary that's 2 sentences early is fine — you'll still land in the right section.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Exact-match penalizes a near-miss just as harshly as a completely missing boundary.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Pk/WD are the community standard for this reason.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74320" y="3154680"/>
            <a:ext cx="8595360" cy="1508760"/>
          </a:xfrm>
          <a:prstGeom prst="roundRect">
            <a:avLst>
              <a:gd name="adj" fmla="val 7273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What Our Best Result Pk = 0.3588 Means — And Why This Is Meaningful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57200" y="3584448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For a 90-minute lecture with 10 chapters (mean ~9 min/chapter):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The system generally identifies the correct chapter region — but occasionally merges two adjacent chapters or splits one chapter in two.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A student would typically land in the right major section, but might need to scan 1–2 minutes in either direction to find the precise transition point.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vs. a non-chaptered video where the student must scrub from the beginning → this is a meaningful practical improvement.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7132320" y="228727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0F2D54"/>
                </a:solidFill>
                <a:latin typeface="Cambria"/>
                <a:ea typeface="Cambria"/>
                <a:cs typeface="Cambria"/>
                <a:sym typeface="Cambria"/>
              </a:rPr>
              <a:t>All Methods Compared — Lower Pk = Better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274320" y="74980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KMeansSeg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657600" y="786384"/>
            <a:ext cx="4860669" cy="256032"/>
          </a:xfrm>
          <a:prstGeom prst="roundRect">
            <a:avLst>
              <a:gd name="adj" fmla="val 14286"/>
            </a:avLst>
          </a:prstGeom>
          <a:solidFill>
            <a:srgbClr val="90A4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8563989" y="74980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0.617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274320" y="10972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TextTiling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657600" y="1133856"/>
            <a:ext cx="4766134" cy="256032"/>
          </a:xfrm>
          <a:prstGeom prst="roundRect">
            <a:avLst>
              <a:gd name="adj" fmla="val 14286"/>
            </a:avLst>
          </a:prstGeom>
          <a:solidFill>
            <a:srgbClr val="90A4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8469454" y="109728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0.605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274320" y="144475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BERT-wiki (supervised)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657600" y="1481328"/>
            <a:ext cx="3883808" cy="256032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7587128" y="1444752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0.493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274320" y="179222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CosineSeg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657600" y="1828800"/>
            <a:ext cx="3860175" cy="256032"/>
          </a:xfrm>
          <a:prstGeom prst="roundRect">
            <a:avLst>
              <a:gd name="adj" fmla="val 14286"/>
            </a:avLst>
          </a:prstGeom>
          <a:solidFill>
            <a:srgbClr val="90A4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7563495" y="179222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0.49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274320" y="2139696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BertSeg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657600" y="2176272"/>
            <a:ext cx="3852297" cy="256032"/>
          </a:xfrm>
          <a:prstGeom prst="roundRect">
            <a:avLst>
              <a:gd name="adj" fmla="val 14286"/>
            </a:avLst>
          </a:prstGeom>
          <a:solidFill>
            <a:srgbClr val="90A4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7555617" y="2139696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0.489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274320" y="248716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C99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657600" y="2523744"/>
            <a:ext cx="3324477" cy="256032"/>
          </a:xfrm>
          <a:prstGeom prst="roundRect">
            <a:avLst>
              <a:gd name="adj" fmla="val 14286"/>
            </a:avLst>
          </a:prstGeom>
          <a:solidFill>
            <a:srgbClr val="90A4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7027797" y="248716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0.422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274320" y="28346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TwoStage + Prosody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657600" y="2871216"/>
            <a:ext cx="3411134" cy="256032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7114454" y="283464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0.433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74320" y="318211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Hierarchical (N3)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657600" y="3218688"/>
            <a:ext cx="3245698" cy="256032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6949018" y="3182112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0.412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274320" y="352958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F2D54"/>
                </a:solidFill>
                <a:latin typeface="Calibri"/>
                <a:ea typeface="Calibri"/>
                <a:cs typeface="Calibri"/>
                <a:sym typeface="Calibri"/>
              </a:rPr>
              <a:t>BGE-Divisive Baseline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657600" y="3566160"/>
            <a:ext cx="3056628" cy="256032"/>
          </a:xfrm>
          <a:prstGeom prst="roundRect">
            <a:avLst>
              <a:gd name="adj" fmla="val 14286"/>
            </a:avLst>
          </a:prstGeom>
          <a:solidFill>
            <a:srgbClr val="546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6759948" y="352958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0.3884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74320" y="3877056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CLIP + Text Fusion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657600" y="3913632"/>
            <a:ext cx="2946337" cy="256032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6649657" y="3877056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0.3740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74320" y="422452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Cross-Model Conservative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657600" y="4261104"/>
            <a:ext cx="2922704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6626024" y="422452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0.3713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861295" y="3584450"/>
            <a:ext cx="3291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Selector (Pk=0.3588)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657600" y="4608576"/>
            <a:ext cx="2828169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6531489" y="457200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0.3588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8"/>
          <p:cNvCxnSpPr/>
          <p:nvPr/>
        </p:nvCxnSpPr>
        <p:spPr>
          <a:xfrm>
            <a:off x="6714228" y="749808"/>
            <a:ext cx="0" cy="4169664"/>
          </a:xfrm>
          <a:prstGeom prst="straightConnector1">
            <a:avLst/>
          </a:prstGeom>
          <a:noFill/>
          <a:ln w="19050" cap="flat" cmpd="sng">
            <a:solidFill>
              <a:srgbClr val="0F2D5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82" name="Google Shape;282;p8"/>
          <p:cNvSpPr/>
          <p:nvPr/>
        </p:nvSpPr>
        <p:spPr>
          <a:xfrm>
            <a:off x="6165588" y="6217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F2D54"/>
                </a:solidFill>
                <a:latin typeface="Calibri"/>
                <a:ea typeface="Calibri"/>
                <a:cs typeface="Calibri"/>
                <a:sym typeface="Calibri"/>
              </a:rPr>
              <a:t>BGE Baseline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F2D54"/>
                </a:solidFill>
                <a:latin typeface="Calibri"/>
                <a:ea typeface="Calibri"/>
                <a:cs typeface="Calibri"/>
                <a:sym typeface="Calibri"/>
              </a:rPr>
              <a:t>0.388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8"/>
          <p:cNvCxnSpPr/>
          <p:nvPr/>
        </p:nvCxnSpPr>
        <p:spPr>
          <a:xfrm>
            <a:off x="7596554" y="749808"/>
            <a:ext cx="0" cy="4169700"/>
          </a:xfrm>
          <a:prstGeom prst="straightConnector1">
            <a:avLst/>
          </a:prstGeom>
          <a:noFill/>
          <a:ln w="12700" cap="flat" cmpd="sng">
            <a:solidFill>
              <a:srgbClr val="C62828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84" name="Google Shape;284;p8"/>
          <p:cNvSpPr/>
          <p:nvPr/>
        </p:nvSpPr>
        <p:spPr>
          <a:xfrm>
            <a:off x="7276514" y="6217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7861295" y="3785618"/>
            <a:ext cx="183000" cy="183000"/>
          </a:xfrm>
          <a:prstGeom prst="roundRect">
            <a:avLst>
              <a:gd name="adj" fmla="val 15000"/>
            </a:avLst>
          </a:prstGeom>
          <a:solidFill>
            <a:srgbClr val="90A4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8089897" y="3767325"/>
            <a:ext cx="93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Classical baselines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861310" y="4130043"/>
            <a:ext cx="183000" cy="183000"/>
          </a:xfrm>
          <a:prstGeom prst="roundRect">
            <a:avLst>
              <a:gd name="adj" fmla="val 15000"/>
            </a:avLst>
          </a:prstGeom>
          <a:solidFill>
            <a:srgbClr val="E65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8086255" y="4107250"/>
            <a:ext cx="885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Supervised (out-of-domain)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7861300" y="4508656"/>
            <a:ext cx="183000" cy="183000"/>
          </a:xfrm>
          <a:prstGeom prst="roundRect">
            <a:avLst>
              <a:gd name="adj" fmla="val 15000"/>
            </a:avLst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8109875" y="4476725"/>
            <a:ext cx="93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Our pipeline variants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7861300" y="4846193"/>
            <a:ext cx="183000" cy="18300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8099425" y="4800600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Best results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Official Results &amp; Statistical Significance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274320" y="777240"/>
            <a:ext cx="8595360" cy="1298448"/>
          </a:xfrm>
          <a:prstGeom prst="roundRect">
            <a:avLst>
              <a:gd name="adj" fmla="val 704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11480" y="868680"/>
            <a:ext cx="292608" cy="292608"/>
          </a:xfrm>
          <a:prstGeom prst="ellipse">
            <a:avLst/>
          </a:prstGeom>
          <a:solidFill>
            <a:srgbClr val="546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777240" y="85039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BGE-Divisive Baseline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777240" y="117957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Dense sentence embeddings + divisive segmentation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777240" y="1490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Stable baseline — already beats all classical and neural methods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6126480" y="941832"/>
            <a:ext cx="777240" cy="960120"/>
          </a:xfrm>
          <a:prstGeom prst="roundRect">
            <a:avLst>
              <a:gd name="adj" fmla="val 9412"/>
            </a:avLst>
          </a:prstGeom>
          <a:solidFill>
            <a:srgbClr val="546E7A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6126480" y="100584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0.3884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6126480" y="15544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Pk 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7040880" y="941832"/>
            <a:ext cx="777240" cy="960120"/>
          </a:xfrm>
          <a:prstGeom prst="roundRect">
            <a:avLst>
              <a:gd name="adj" fmla="val 9412"/>
            </a:avLst>
          </a:prstGeom>
          <a:solidFill>
            <a:srgbClr val="546E7A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7040880" y="100584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0.3956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040880" y="15544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WD 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7955280" y="941832"/>
            <a:ext cx="777240" cy="960120"/>
          </a:xfrm>
          <a:prstGeom prst="roundRect">
            <a:avLst>
              <a:gd name="adj" fmla="val 9412"/>
            </a:avLst>
          </a:prstGeom>
          <a:solidFill>
            <a:srgbClr val="546E7A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7955280" y="100584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7955280" y="15544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(reference)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274320" y="2194560"/>
            <a:ext cx="8595360" cy="1298448"/>
          </a:xfrm>
          <a:prstGeom prst="roundRect">
            <a:avLst>
              <a:gd name="adj" fmla="val 704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411480" y="2286000"/>
            <a:ext cx="292608" cy="292608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777240" y="226771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Cross-Model Conservative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777240" y="259689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BGE + E5 cross-model agreement scoring with min-length filtering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777240" y="28529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✅ Significantly better than baseline (p=0.006 Wilcoxon+Holm)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777240" y="31455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Best single global method — our safest claim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6126480" y="2359152"/>
            <a:ext cx="777240" cy="960120"/>
          </a:xfrm>
          <a:prstGeom prst="roundRect">
            <a:avLst>
              <a:gd name="adj" fmla="val 9412"/>
            </a:avLst>
          </a:prstGeom>
          <a:solidFill>
            <a:srgbClr val="0097A7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6126480" y="242316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0.3713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6126480" y="297180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Pk 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7040880" y="2359152"/>
            <a:ext cx="777240" cy="960120"/>
          </a:xfrm>
          <a:prstGeom prst="roundRect">
            <a:avLst>
              <a:gd name="adj" fmla="val 9412"/>
            </a:avLst>
          </a:prstGeom>
          <a:solidFill>
            <a:srgbClr val="0097A7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7040880" y="242316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0.3764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7040880" y="297180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WD 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7955280" y="2359152"/>
            <a:ext cx="777240" cy="960120"/>
          </a:xfrm>
          <a:prstGeom prst="roundRect">
            <a:avLst>
              <a:gd name="adj" fmla="val 9412"/>
            </a:avLst>
          </a:prstGeom>
          <a:solidFill>
            <a:srgbClr val="0097A7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7955280" y="242316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p = 0.006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7955280" y="297180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vs baseline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274320" y="3611880"/>
            <a:ext cx="8595360" cy="1298448"/>
          </a:xfrm>
          <a:prstGeom prst="roundRect">
            <a:avLst>
              <a:gd name="adj" fmla="val 704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411480" y="3703320"/>
            <a:ext cx="292608" cy="2926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777240" y="368503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 Balanced Selector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77240" y="401421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ExtraTrees meta-model picks best method per video (leave-one-out)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777240" y="42702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✅ Significantly better than baseline on Pk/WD (p=0.025)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777240" y="456285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Best overall result: Pk=0.3588, WD=0.3739 — significantly better than baseline (p=0.025). Real automated segmentation with chapter timestamps.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126480" y="3776472"/>
            <a:ext cx="777240" cy="960120"/>
          </a:xfrm>
          <a:prstGeom prst="roundRect">
            <a:avLst>
              <a:gd name="adj" fmla="val 9412"/>
            </a:avLst>
          </a:prstGeom>
          <a:solidFill>
            <a:srgbClr val="2E7D32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6126480" y="384048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0.3588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126480" y="43891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Pk 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7040880" y="3776472"/>
            <a:ext cx="777240" cy="960120"/>
          </a:xfrm>
          <a:prstGeom prst="roundRect">
            <a:avLst>
              <a:gd name="adj" fmla="val 9412"/>
            </a:avLst>
          </a:prstGeom>
          <a:solidFill>
            <a:srgbClr val="2E7D32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7040880" y="384048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0.3739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7040880" y="43891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WD ↓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7955280" y="3776472"/>
            <a:ext cx="777240" cy="960120"/>
          </a:xfrm>
          <a:prstGeom prst="roundRect">
            <a:avLst>
              <a:gd name="adj" fmla="val 9412"/>
            </a:avLst>
          </a:prstGeom>
          <a:solidFill>
            <a:srgbClr val="2E7D32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7955280" y="384048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 = 0.025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7955280" y="43891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vs baseline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274320" y="4736592"/>
            <a:ext cx="8595360" cy="320040"/>
          </a:xfrm>
          <a:prstGeom prst="roundRect">
            <a:avLst>
              <a:gd name="adj" fmla="val 22857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Oracle upper bound: Pk = 0.0172 / WD = 0.0198 (near-perfect) — correct boundaries ARE in the pool. The ΔPk ≈ 0.34 gap is a SELECTION problem, not detection. Next step: supervised boundary ranker.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"/>
          <p:cNvSpPr/>
          <p:nvPr/>
        </p:nvSpPr>
        <p:spPr>
          <a:xfrm>
            <a:off x="457200" y="109728"/>
            <a:ext cx="6217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Method Selector — Choosing the Best Algorithm Per Video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274320" y="658368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411480" y="65836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Our experiments show no single method is best for every video. A BGE-divisive might be optimal for a Math lecture but cross-model better for Biology. The selector is a meta-model: given features of a new video, it predicts which of our 80+ method configurations will perform best and runs THAT one.using only features of the NEW video plus historical Pk scores.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032" y="1051560"/>
            <a:ext cx="5029198" cy="3858767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1"/>
          <p:cNvSpPr/>
          <p:nvPr/>
        </p:nvSpPr>
        <p:spPr>
          <a:xfrm>
            <a:off x="5486400" y="1051560"/>
            <a:ext cx="3383280" cy="749808"/>
          </a:xfrm>
          <a:prstGeom prst="roundRect">
            <a:avLst>
              <a:gd name="adj" fmla="val 12195"/>
            </a:avLst>
          </a:prstGeom>
          <a:solidFill>
            <a:srgbClr val="0F2D54"/>
          </a:solidFill>
          <a:ln>
            <a:noFill/>
          </a:ln>
          <a:effectLst>
            <a:outerShdw blurRad="76200" dist="12700" dir="27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5486400" y="10972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5486400" y="10972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5806440" y="1106424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Where does training data come from?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5577840" y="1362456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LecSeg-30 itself. We run all 80+ variants on each of the 29 training videos and record which variant got which Pk. ~2,320 (variant × video) rows total.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5486400" y="1892808"/>
            <a:ext cx="3383280" cy="749808"/>
          </a:xfrm>
          <a:prstGeom prst="roundRect">
            <a:avLst>
              <a:gd name="adj" fmla="val 12195"/>
            </a:avLst>
          </a:prstGeom>
          <a:solidFill>
            <a:srgbClr val="0F2D54"/>
          </a:solidFill>
          <a:ln>
            <a:noFill/>
          </a:ln>
          <a:effectLst>
            <a:outerShdw blurRad="76200" dist="12700" dir="27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5486400" y="19385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6A1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5486400" y="193852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5806440" y="1947672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How is it used at test time?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5577840" y="2203704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Extract 12 features from the new video → ExtraTrees predicts Pk for each of 80 variants → pick the variant with lowest predicted Pk → run it on the video.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5486400" y="2734056"/>
            <a:ext cx="3383280" cy="749808"/>
          </a:xfrm>
          <a:prstGeom prst="roundRect">
            <a:avLst>
              <a:gd name="adj" fmla="val 12195"/>
            </a:avLst>
          </a:prstGeom>
          <a:solidFill>
            <a:srgbClr val="0F2D54"/>
          </a:solidFill>
          <a:ln>
            <a:noFill/>
          </a:ln>
          <a:effectLst>
            <a:outerShdw blurRad="76200" dist="12700" dir="27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5486400" y="277977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65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5486400" y="277977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5806440" y="2788920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Key limitation?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5577840" y="3044952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Needs related videos in training. Leave-domain-out degrades to Pk = 0.4012 (worse than baseline). Math (only 4 videos, 3 per fold) is the clearest failure.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5486400" y="3602736"/>
            <a:ext cx="3383280" cy="256032"/>
          </a:xfrm>
          <a:prstGeom prst="roundRect">
            <a:avLst>
              <a:gd name="adj" fmla="val 21429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5559552" y="3602736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Where do the 80+ variants come from?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486400" y="3886200"/>
            <a:ext cx="3383280" cy="148133"/>
          </a:xfrm>
          <a:prstGeom prst="rect">
            <a:avLst/>
          </a:prstGeom>
          <a:solidFill>
            <a:srgbClr val="0A1E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5541264" y="3886200"/>
            <a:ext cx="1417320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Cross-model (BGE×E5)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6976872" y="3886200"/>
            <a:ext cx="1481328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4 frac × 3 minlen × 2 model pairs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8485632" y="3909060"/>
            <a:ext cx="310896" cy="102413"/>
          </a:xfrm>
          <a:prstGeom prst="roundRect">
            <a:avLst>
              <a:gd name="adj" fmla="val 26786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8485632" y="3909060"/>
            <a:ext cx="310896" cy="10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~24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5486400" y="4034333"/>
            <a:ext cx="3383280" cy="148133"/>
          </a:xfrm>
          <a:prstGeom prst="rect">
            <a:avLst/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5541264" y="4034333"/>
            <a:ext cx="1417320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BGE-divisive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6976872" y="4034333"/>
            <a:ext cx="1481328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window size × threshold combos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8485632" y="4057193"/>
            <a:ext cx="310896" cy="102413"/>
          </a:xfrm>
          <a:prstGeom prst="roundRect">
            <a:avLst>
              <a:gd name="adj" fmla="val 26786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8485632" y="4057193"/>
            <a:ext cx="310896" cy="10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~12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5486400" y="4182466"/>
            <a:ext cx="3383280" cy="148133"/>
          </a:xfrm>
          <a:prstGeom prst="rect">
            <a:avLst/>
          </a:prstGeom>
          <a:solidFill>
            <a:srgbClr val="0A1E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5541264" y="4182466"/>
            <a:ext cx="1417320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TreeSeg-style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6976872" y="4182466"/>
            <a:ext cx="1481328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split depth × 3 backbones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8485632" y="4205326"/>
            <a:ext cx="310896" cy="102413"/>
          </a:xfrm>
          <a:prstGeom prst="roundRect">
            <a:avLst>
              <a:gd name="adj" fmla="val 26786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8485632" y="4205326"/>
            <a:ext cx="310896" cy="10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~9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5486400" y="4330598"/>
            <a:ext cx="3383280" cy="148133"/>
          </a:xfrm>
          <a:prstGeom prst="rect">
            <a:avLst/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5541264" y="4330598"/>
            <a:ext cx="1417320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CLIP + text fusion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6976872" y="4330598"/>
            <a:ext cx="1481328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CLIP weight × 3 text models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8485632" y="4353458"/>
            <a:ext cx="310896" cy="102413"/>
          </a:xfrm>
          <a:prstGeom prst="roundRect">
            <a:avLst>
              <a:gd name="adj" fmla="val 26786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8485632" y="4353458"/>
            <a:ext cx="310896" cy="10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~9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5486400" y="4478731"/>
            <a:ext cx="3383280" cy="148133"/>
          </a:xfrm>
          <a:prstGeom prst="rect">
            <a:avLst/>
          </a:prstGeom>
          <a:solidFill>
            <a:srgbClr val="0A1E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5541264" y="4478731"/>
            <a:ext cx="1417320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Two-stage (N1)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6976872" y="4478731"/>
            <a:ext cx="1481328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c1/c2 thresholds × backbones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8485632" y="4501591"/>
            <a:ext cx="310896" cy="102413"/>
          </a:xfrm>
          <a:prstGeom prst="roundRect">
            <a:avLst>
              <a:gd name="adj" fmla="val 26786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8485632" y="4501591"/>
            <a:ext cx="310896" cy="10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~10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5486400" y="4626864"/>
            <a:ext cx="3383280" cy="148133"/>
          </a:xfrm>
          <a:prstGeom prst="rect">
            <a:avLst/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5541264" y="4626864"/>
            <a:ext cx="1417320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Classical + neural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6976872" y="4626864"/>
            <a:ext cx="1481328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TextTiling, C99, BertSeg, CosineSeg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8485632" y="4649724"/>
            <a:ext cx="310896" cy="102413"/>
          </a:xfrm>
          <a:prstGeom prst="roundRect">
            <a:avLst>
              <a:gd name="adj" fmla="val 26786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8485632" y="4649724"/>
            <a:ext cx="310896" cy="10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~8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5486400" y="4774997"/>
            <a:ext cx="3383280" cy="148133"/>
          </a:xfrm>
          <a:prstGeom prst="rect">
            <a:avLst/>
          </a:prstGeom>
          <a:solidFill>
            <a:srgbClr val="0A1E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5541264" y="4774997"/>
            <a:ext cx="1417320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Multimodal grid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6976872" y="4774997"/>
            <a:ext cx="1481328" cy="14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prosody on/off × OCR on/off × models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8485632" y="4797857"/>
            <a:ext cx="310896" cy="102413"/>
          </a:xfrm>
          <a:prstGeom prst="roundRect">
            <a:avLst>
              <a:gd name="adj" fmla="val 26786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8485632" y="4797857"/>
            <a:ext cx="310896" cy="10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~8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5486400" y="4928616"/>
            <a:ext cx="3383280" cy="137160"/>
          </a:xfrm>
          <a:prstGeom prst="roundRect">
            <a:avLst>
              <a:gd name="adj" fmla="val 26667"/>
            </a:avLst>
          </a:prstGeom>
          <a:solidFill>
            <a:srgbClr val="0A1E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5541264" y="4928616"/>
            <a:ext cx="327355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650"/>
              <a:buFont typeface="Calibri"/>
              <a:buNone/>
            </a:pPr>
            <a:r>
              <a:rPr lang="en-US" sz="650" b="0" i="1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Top 80 by training-fold Pk kept — expanding to 120 degraded performance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3758050" y="1252750"/>
            <a:ext cx="1481400" cy="548700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3863400" y="1252750"/>
            <a:ext cx="1417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Result: Pk = 0.3588 / WD = 0.3739 — our best result. The selector uses video metadata (domain, duration, embedding variance) as features — all available for any YouTube video. Limitation: leave-domain-out degrades to Pk = 0.4012 (below baseline) — domain not seen in training reduces reliability. Reported honestly.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Box 297"/>
          <p:cNvSpPr txBox="1"/>
          <p:nvPr/>
        </p:nvSpPr>
        <p:spPr>
          <a:xfrm>
            <a:off x="18288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The Oracle Experiment — What Is the Upper Ceiling?</a:t>
            </a:r>
          </a:p>
        </p:txBody>
      </p:sp>
      <p:sp>
        <p:nvSpPr>
          <p:cNvPr id="997" name="rule"/>
          <p:cNvSpPr>
            <a:spLocks noGrp="1"/>
          </p:cNvSpPr>
          <p:nvPr/>
        </p:nvSpPr>
        <p:spPr>
          <a:xfrm>
            <a:off x="182880" y="594360"/>
            <a:ext cx="8778240" cy="0"/>
          </a:xfrm>
          <a:prstGeom prst="line">
            <a:avLst/>
          </a:prstGeom>
          <a:ln w="9525">
            <a:solidFill>
              <a:srgbClr val="3A3F5C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998" name="Picture 997" descr="oracle_diagram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67512"/>
            <a:ext cx="8778240" cy="2553644"/>
          </a:xfrm>
          <a:prstGeom prst="rect">
            <a:avLst/>
          </a:prstGeom>
        </p:spPr>
      </p:pic>
      <p:sp>
        <p:nvSpPr>
          <p:cNvPr id="999" name="TextBox 998"/>
          <p:cNvSpPr txBox="1"/>
          <p:nvPr/>
        </p:nvSpPr>
        <p:spPr>
          <a:xfrm>
            <a:off x="182880" y="3294308"/>
            <a:ext cx="8778240" cy="173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50C878"/>
                </a:solidFill>
              </a:rPr>
              <a:t>①  96.8% recall — the correct timestamps ARE in the candidate pool. Detection is NOT the bottleneck.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FFD246"/>
                </a:solidFill>
              </a:rPr>
              <a:t>②  Oracle Pk = 0.0172 — near-perfect segmentation IS achievable from our pipeline architecture.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64B4FF"/>
                </a:solidFill>
              </a:rPr>
              <a:t>③  Gap ΔPk = 0.34 — entirely a selection / ranking problem. Next step: supervised boundary ranker.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Box 349"/>
          <p:cNvSpPr txBox="1"/>
          <p:nvPr/>
        </p:nvSpPr>
        <p:spPr>
          <a:xfrm>
            <a:off x="18288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Granularity Mismatch — Why Fine-Grained Signals Fail</a:t>
            </a:r>
          </a:p>
        </p:txBody>
      </p:sp>
      <p:sp>
        <p:nvSpPr>
          <p:cNvPr id="997" name="rule"/>
          <p:cNvSpPr>
            <a:spLocks noGrp="1"/>
          </p:cNvSpPr>
          <p:nvPr/>
        </p:nvSpPr>
        <p:spPr>
          <a:xfrm>
            <a:off x="182880" y="594360"/>
            <a:ext cx="8778240" cy="0"/>
          </a:xfrm>
          <a:prstGeom prst="line">
            <a:avLst/>
          </a:prstGeom>
          <a:ln w="9525">
            <a:solidFill>
              <a:srgbClr val="3A3F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8" name="TextBox 997"/>
          <p:cNvSpPr txBox="1"/>
          <p:nvPr/>
        </p:nvSpPr>
        <p:spPr>
          <a:xfrm>
            <a:off x="182880" y="6675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246"/>
                </a:solidFill>
              </a:rPr>
              <a:t>Three levels of topic change:</a:t>
            </a:r>
          </a:p>
        </p:txBody>
      </p:sp>
      <p:sp>
        <p:nvSpPr>
          <p:cNvPr id="999" name="Rectangle 998"/>
          <p:cNvSpPr/>
          <p:nvPr/>
        </p:nvSpPr>
        <p:spPr>
          <a:xfrm>
            <a:off x="182880" y="960120"/>
            <a:ext cx="4114800" cy="301752"/>
          </a:xfrm>
          <a:prstGeom prst="rect">
            <a:avLst/>
          </a:prstGeom>
          <a:solidFill>
            <a:srgbClr val="691923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FINE-GRAINED  (30-120 sec)</a:t>
            </a:r>
          </a:p>
        </p:txBody>
      </p:sp>
      <p:sp>
        <p:nvSpPr>
          <p:cNvPr id="1000" name="Rectangle 999"/>
          <p:cNvSpPr/>
          <p:nvPr/>
        </p:nvSpPr>
        <p:spPr>
          <a:xfrm>
            <a:off x="182880" y="1261872"/>
            <a:ext cx="4114800" cy="1031747"/>
          </a:xfrm>
          <a:prstGeom prst="rect">
            <a:avLst/>
          </a:prstGeom>
          <a:solidFill>
            <a:srgbClr val="0A1023"/>
          </a:solidFill>
          <a:ln w="9525">
            <a:solidFill>
              <a:srgbClr val="5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1" name="TextBox 1000"/>
          <p:cNvSpPr txBox="1"/>
          <p:nvPr/>
        </p:nvSpPr>
        <p:spPr>
          <a:xfrm>
            <a:off x="274320" y="1316736"/>
            <a:ext cx="3931920" cy="958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BEC3D7"/>
                </a:solidFill>
              </a:rPr>
              <a:t>Prosody pauses, discourse markers,
</a:t>
            </a:r>
            <a:r>
              <a:rPr sz="800" b="0" dirty="0" err="1">
                <a:solidFill>
                  <a:srgbClr val="BEC3D7"/>
                </a:solidFill>
              </a:rPr>
              <a:t>BERTopic</a:t>
            </a:r>
            <a:r>
              <a:rPr sz="800" b="0" dirty="0">
                <a:solidFill>
                  <a:srgbClr val="BEC3D7"/>
                </a:solidFill>
              </a:rPr>
              <a:t>, GPT-2 surprisal
→ Fires too often for chapter GT
→ Over-segments → HIGH Pk error</a:t>
            </a:r>
          </a:p>
        </p:txBody>
      </p:sp>
      <p:sp>
        <p:nvSpPr>
          <p:cNvPr id="1002" name="Rectangle 1001"/>
          <p:cNvSpPr/>
          <p:nvPr/>
        </p:nvSpPr>
        <p:spPr>
          <a:xfrm>
            <a:off x="182880" y="2330195"/>
            <a:ext cx="4114800" cy="301752"/>
          </a:xfrm>
          <a:prstGeom prst="rect">
            <a:avLst/>
          </a:prstGeom>
          <a:solidFill>
            <a:srgbClr val="69550A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MID-GRAINED  (2-5 min)</a:t>
            </a:r>
          </a:p>
        </p:txBody>
      </p:sp>
      <p:sp>
        <p:nvSpPr>
          <p:cNvPr id="1003" name="Rectangle 1002"/>
          <p:cNvSpPr/>
          <p:nvPr/>
        </p:nvSpPr>
        <p:spPr>
          <a:xfrm>
            <a:off x="182880" y="2631947"/>
            <a:ext cx="4114800" cy="1031747"/>
          </a:xfrm>
          <a:prstGeom prst="rect">
            <a:avLst/>
          </a:prstGeom>
          <a:solidFill>
            <a:srgbClr val="0A1023"/>
          </a:solidFill>
          <a:ln w="9525">
            <a:solidFill>
              <a:srgbClr val="5041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4" name="TextBox 1003"/>
          <p:cNvSpPr txBox="1"/>
          <p:nvPr/>
        </p:nvSpPr>
        <p:spPr>
          <a:xfrm>
            <a:off x="274320" y="2686811"/>
            <a:ext cx="3931920" cy="958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BEC3D7"/>
                </a:solidFill>
              </a:rPr>
              <a:t>CLIP visual scene changes
→ Closer to chapter scale
→ Reduces over-segmentation
→ HELPS Pk</a:t>
            </a:r>
          </a:p>
        </p:txBody>
      </p:sp>
      <p:sp>
        <p:nvSpPr>
          <p:cNvPr id="1005" name="Rectangle 1004"/>
          <p:cNvSpPr/>
          <p:nvPr/>
        </p:nvSpPr>
        <p:spPr>
          <a:xfrm>
            <a:off x="182880" y="3700271"/>
            <a:ext cx="4114800" cy="301752"/>
          </a:xfrm>
          <a:prstGeom prst="rect">
            <a:avLst/>
          </a:prstGeom>
          <a:solidFill>
            <a:srgbClr val="125A32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COARSE  (5-20 min) ← OUR TARGET</a:t>
            </a:r>
          </a:p>
        </p:txBody>
      </p:sp>
      <p:sp>
        <p:nvSpPr>
          <p:cNvPr id="1006" name="Rectangle 1005"/>
          <p:cNvSpPr/>
          <p:nvPr/>
        </p:nvSpPr>
        <p:spPr>
          <a:xfrm>
            <a:off x="182880" y="4002023"/>
            <a:ext cx="4114800" cy="1031747"/>
          </a:xfrm>
          <a:prstGeom prst="rect">
            <a:avLst/>
          </a:prstGeom>
          <a:solidFill>
            <a:srgbClr val="0A1023"/>
          </a:solidFill>
          <a:ln w="9525">
            <a:solidFill>
              <a:srgbClr val="0E4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7" name="TextBox 1006"/>
          <p:cNvSpPr txBox="1"/>
          <p:nvPr/>
        </p:nvSpPr>
        <p:spPr>
          <a:xfrm>
            <a:off x="274320" y="4056887"/>
            <a:ext cx="3931920" cy="958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BEC3D7"/>
                </a:solidFill>
              </a:rPr>
              <a:t>YouTube creator chapter markers
= our ground truth
BGE cosine dissimilarity operates
at this scale → BEST Pk</a:t>
            </a:r>
          </a:p>
        </p:txBody>
      </p:sp>
      <p:pic>
        <p:nvPicPr>
          <p:cNvPr id="1008" name="Picture 100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667512"/>
            <a:ext cx="4498848" cy="44028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D54"/>
                </a:solidFill>
                <a:latin typeface="Cambria"/>
                <a:ea typeface="Cambria"/>
                <a:cs typeface="Cambria"/>
                <a:sym typeface="Cambria"/>
              </a:rPr>
              <a:t>Two Central Findings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274320" y="749808"/>
            <a:ext cx="8595360" cy="1874520"/>
          </a:xfrm>
          <a:prstGeom prst="roundRect">
            <a:avLst>
              <a:gd name="adj" fmla="val 5854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Finding 1: The Bottleneck Is Selection, Not Detection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57200" y="1188720"/>
            <a:ext cx="82296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We ran an oracle experiment: what's the best possible Pk if we could perfectly select from our candidate boundary pool?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Answer: Pk = 0.0172 — near-perfect — at 96.8% recall. The correct boundaries ARE already being generated.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The ΔPk ≈ 0.34 gap (0.3588 → 0.0172) is almost entirely a RANKING problem, not a detection problem.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→  Implication: The right next step is a supervised boundary ranker, not generating more candidate boundaries.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274320" y="2743200"/>
            <a:ext cx="8595360" cy="2240280"/>
          </a:xfrm>
          <a:prstGeom prst="roundRect">
            <a:avLst>
              <a:gd name="adj" fmla="val 4898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457200" y="279806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Finding 2: Granularity Mismatch Explains Every Multimodal Failure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65760" y="3218688"/>
            <a:ext cx="8412480" cy="301752"/>
          </a:xfrm>
          <a:prstGeom prst="roundRect">
            <a:avLst>
              <a:gd name="adj" fmla="val 18182"/>
            </a:avLst>
          </a:prstGeom>
          <a:solidFill>
            <a:srgbClr val="2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457200" y="3218688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Discourse markers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2468880" y="3218688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Pk = 0.4615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3291840" y="3218688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❌ HURT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4160520" y="3218688"/>
            <a:ext cx="45720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Detects rhetorical transitions (too fine-grained)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65760" y="3566160"/>
            <a:ext cx="8412480" cy="301752"/>
          </a:xfrm>
          <a:prstGeom prst="roundRect">
            <a:avLst>
              <a:gd name="adj" fmla="val 18182"/>
            </a:avLst>
          </a:prstGeom>
          <a:solidFill>
            <a:srgbClr val="2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457200" y="3566160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BERTopic / topic models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2468880" y="3566160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Pk = 0.5632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3291840" y="3566160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❌ HURT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4160520" y="3566160"/>
            <a:ext cx="45720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Finds paragraph-level topics, not editorial chapters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365760" y="3913632"/>
            <a:ext cx="8412480" cy="301752"/>
          </a:xfrm>
          <a:prstGeom prst="roundRect">
            <a:avLst>
              <a:gd name="adj" fmla="val 18182"/>
            </a:avLst>
          </a:prstGeom>
          <a:solidFill>
            <a:srgbClr val="2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457200" y="3913632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GPT-2 perplexity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2468880" y="3913632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Pk = 0.4182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3291840" y="3913632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❌ HURT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160520" y="3913632"/>
            <a:ext cx="45720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Language surprise = sub-chapter shifts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65760" y="4261104"/>
            <a:ext cx="8412480" cy="301752"/>
          </a:xfrm>
          <a:prstGeom prst="roundRect">
            <a:avLst>
              <a:gd name="adj" fmla="val 18182"/>
            </a:avLst>
          </a:prstGeom>
          <a:solidFill>
            <a:srgbClr val="2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457200" y="4261104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Pause / pitch prosody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2468880" y="426110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Pk = 0.4174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3291840" y="426110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❌ HURT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160520" y="4261104"/>
            <a:ext cx="45720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Acoustic transitions = discourse level, too fine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65760" y="4608576"/>
            <a:ext cx="8412480" cy="301752"/>
          </a:xfrm>
          <a:prstGeom prst="roundRect">
            <a:avLst>
              <a:gd name="adj" fmla="val 18182"/>
            </a:avLst>
          </a:prstGeom>
          <a:solidFill>
            <a:srgbClr val="0A2B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457200" y="4608576"/>
            <a:ext cx="20116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CLIP visual embeddings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2468880" y="4608576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Pk = 0.3740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3291840" y="4608576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✅ HELP!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160520" y="4608576"/>
            <a:ext cx="45720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Slide scene changes ARE editorial decisions (same granularity!)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2"/>
          <p:cNvSpPr/>
          <p:nvPr/>
        </p:nvSpPr>
        <p:spPr>
          <a:xfrm>
            <a:off x="6858000" y="16459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685800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DEMO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LecSeg Web Application — Live Demo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749808"/>
            <a:ext cx="539496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2"/>
          <p:cNvSpPr/>
          <p:nvPr/>
        </p:nvSpPr>
        <p:spPr>
          <a:xfrm>
            <a:off x="5806440" y="8046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How to Use 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5806440" y="11887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🔗  Paste any YouTube lecture URL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5806440" y="1591056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⬇️  Audio is downloaded automatically (no video file needed)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5806440" y="199339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🎙️  Whisper transcribes locally on CPU — no API keys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5806440" y="2395728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🧠  Domain-aware selector automatically picks the best embedding model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5806440" y="2798064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📑  Llama 3.1 (local) writes AI chapter titles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5806440" y="32004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📤  Copy chapters as YouTube description format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320" y="3730752"/>
            <a:ext cx="8595360" cy="1325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3"/>
          <p:cNvSpPr/>
          <p:nvPr/>
        </p:nvSpPr>
        <p:spPr>
          <a:xfrm>
            <a:off x="6858000" y="164592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685800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DEMO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the Output Looks Like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274320" y="74980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📊 Evaluation Metrics Panel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2" name="Google Shape;47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005840"/>
            <a:ext cx="438912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3"/>
          <p:cNvSpPr/>
          <p:nvPr/>
        </p:nvSpPr>
        <p:spPr>
          <a:xfrm>
            <a:off x="4846320" y="74980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📑 Chapter &amp; Subtopic Hierarchy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1005840"/>
            <a:ext cx="402336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3"/>
          <p:cNvSpPr/>
          <p:nvPr/>
        </p:nvSpPr>
        <p:spPr>
          <a:xfrm>
            <a:off x="274320" y="3520440"/>
            <a:ext cx="8595360" cy="1508760"/>
          </a:xfrm>
          <a:prstGeom prst="roundRect">
            <a:avLst>
              <a:gd name="adj" fmla="val 7273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🎓 Real Example: CSE420 Compiler Design Lecture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457200" y="3931920"/>
            <a:ext cx="822960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The app was tested on BRACU's own CSE420 Compiler Design lectures. The pipeline detected 6 chapters across a ~1-hour lecture, generated AI titles like "Compiler Lexical Analysis Basics Explained", "Context Free Grammar Definition Basics", and "Constructing a Syntax Analyzer" — matching the creator's intended structure. A student can now navigate directly to the section they need.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4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0F2D54"/>
                </a:solidFill>
                <a:latin typeface="Cambria"/>
                <a:ea typeface="Cambria"/>
                <a:cs typeface="Cambria"/>
                <a:sym typeface="Cambria"/>
              </a:rPr>
              <a:t>Where It Works Best — And Where It Struggles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4" name="Google Shape;48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749808"/>
            <a:ext cx="530352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4"/>
          <p:cNvSpPr/>
          <p:nvPr/>
        </p:nvSpPr>
        <p:spPr>
          <a:xfrm>
            <a:off x="5760720" y="74980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F2D54"/>
                </a:solidFill>
                <a:latin typeface="Calibri"/>
                <a:ea typeface="Calibri"/>
                <a:cs typeface="Calibri"/>
                <a:sym typeface="Calibri"/>
              </a:rPr>
              <a:t>5 Error Types Identified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5760720" y="1170432"/>
            <a:ext cx="274320" cy="2743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5760720" y="11704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6108192" y="11155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Boundary Omission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6108192" y="13533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Misses a chapter entirely — common in Math &amp; Biology with dense, stable vocabulary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5760720" y="1737360"/>
            <a:ext cx="274320" cy="2743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5760720" y="17373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6108192" y="168249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Boundary Displacement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6108192" y="1920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Right region, wrong sentence — invisible to Pk/WD but surfaces in strict F1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5760720" y="2304288"/>
            <a:ext cx="274320" cy="27432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5760720" y="23042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6108192" y="224942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Over-segmentation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6108192" y="24871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Too many boundaries — caused by prosody/discourse signals (granularity mismatch)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5760720" y="2871216"/>
            <a:ext cx="274320" cy="27432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5760720" y="28712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6108192" y="281635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Under-segmentation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6108192" y="30540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Too few boundaries — conservative cross-model trades recall for Pk quality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5760720" y="3438144"/>
            <a:ext cx="274320" cy="27432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5760720" y="34381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6108192" y="33832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Granularity Mismatch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6108192" y="362102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Detects REAL transitions, but at discourse level not editorial level — the key finding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274320" y="3319272"/>
            <a:ext cx="8595360" cy="1664208"/>
          </a:xfrm>
          <a:prstGeom prst="roundRect">
            <a:avLst>
              <a:gd name="adj" fmla="val 5495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457200" y="3374136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External Validation — 10 Videos Not in LecSeg-30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457200" y="3721608"/>
            <a:ext cx="822960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US" sz="8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External Validation — 10 YouTube Videos Outside LecSeg-30
Channels tested: 3Blue1Brown, </a:t>
            </a:r>
            <a:r>
              <a:rPr lang="en-US" sz="800" b="0" i="0" u="none" strike="noStrike" cap="none" dirty="0" err="1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Veritasium</a:t>
            </a:r>
            <a:r>
              <a:rPr lang="en-US" sz="8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800" b="0" i="0" u="none" strike="noStrike" cap="none" dirty="0" err="1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CrashCourse</a:t>
            </a:r>
            <a:r>
              <a:rPr lang="en-US" sz="8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800" b="0" i="0" u="none" strike="noStrike" cap="none" dirty="0" err="1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freeCodeCamp</a:t>
            </a:r>
            <a:r>
              <a:rPr lang="en-US" sz="8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
Domains: CS, Math, Physics, Biology, Philosophy — none in LecSeg-30 training
BGE-divisive:   Pk = 0.389   (LecSeg-30 benchmark: 0.388)   </a:t>
            </a:r>
            <a:r>
              <a:rPr lang="en-US" sz="800" b="0" i="0" u="none" strike="noStrike" cap="none" dirty="0" err="1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ΔPk</a:t>
            </a:r>
            <a:r>
              <a:rPr lang="en-US" sz="8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 = 0.001
Cross-model:    Pk = 0.421   (LecSeg-30 benchmark: 0.371)   </a:t>
            </a:r>
            <a:r>
              <a:rPr lang="en-US" sz="800" b="0" i="0" u="none" strike="noStrike" cap="none" dirty="0" err="1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ΔPk</a:t>
            </a:r>
            <a:r>
              <a:rPr lang="en-US" sz="8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 = 0.050
BGE-divisive signal generalizes. Cross-model is less stable on external videos.
Selector: applies to any video (takes metadata features). Leave-domain-out (Pk=0.4012) gives worst-case when domain unseen.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5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0F2D54"/>
                </a:solidFill>
                <a:latin typeface="Cambria"/>
                <a:ea typeface="Cambria"/>
                <a:cs typeface="Cambria"/>
                <a:sym typeface="Cambria"/>
              </a:rPr>
              <a:t>How We Compare to Related Work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274320" y="7132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2D54"/>
                </a:solidFill>
                <a:latin typeface="Calibri"/>
                <a:ea typeface="Calibri"/>
                <a:cs typeface="Calibri"/>
                <a:sym typeface="Calibri"/>
              </a:rPr>
              <a:t>Scale Comparison (Why Direct Comparison Is Inappropriate)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274320" y="1024128"/>
            <a:ext cx="2011680" cy="274320"/>
          </a:xfrm>
          <a:prstGeom prst="rect">
            <a:avLst/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320040" y="10241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2304288" y="1024128"/>
            <a:ext cx="731520" cy="274320"/>
          </a:xfrm>
          <a:prstGeom prst="rect">
            <a:avLst/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2350008" y="10241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3054096" y="1024128"/>
            <a:ext cx="1737360" cy="274320"/>
          </a:xfrm>
          <a:prstGeom prst="rect">
            <a:avLst/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5"/>
          <p:cNvSpPr/>
          <p:nvPr/>
        </p:nvSpPr>
        <p:spPr>
          <a:xfrm>
            <a:off x="3099816" y="10241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4809744" y="1024128"/>
            <a:ext cx="1097280" cy="274320"/>
          </a:xfrm>
          <a:prstGeom prst="rect">
            <a:avLst/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4855464" y="102412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5943600" y="1024128"/>
            <a:ext cx="3200400" cy="274320"/>
          </a:xfrm>
          <a:prstGeom prst="rect">
            <a:avLst/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5989320" y="102412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274320" y="1316736"/>
            <a:ext cx="8595360" cy="38404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5"/>
          <p:cNvSpPr/>
          <p:nvPr/>
        </p:nvSpPr>
        <p:spPr>
          <a:xfrm>
            <a:off x="320040" y="131673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2D54"/>
                </a:solidFill>
                <a:latin typeface="Calibri"/>
                <a:ea typeface="Calibri"/>
                <a:cs typeface="Calibri"/>
                <a:sym typeface="Calibri"/>
              </a:rPr>
              <a:t>LecSeg-30 (Ours)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2350008" y="131673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2D54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3099816" y="131673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2D54"/>
                </a:solidFill>
                <a:latin typeface="Calibri"/>
                <a:ea typeface="Calibri"/>
                <a:cs typeface="Calibri"/>
                <a:sym typeface="Calibri"/>
              </a:rPr>
              <a:t>Unsupervised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4855464" y="1316736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2D54"/>
                </a:solidFill>
                <a:latin typeface="Calibri"/>
                <a:ea typeface="Calibri"/>
                <a:cs typeface="Calibri"/>
                <a:sym typeface="Calibri"/>
              </a:rPr>
              <a:t>Pk / WD + bootstrap CIs + oracle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5989320" y="131673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2D54"/>
                </a:solidFill>
                <a:latin typeface="Calibri"/>
                <a:ea typeface="Calibri"/>
                <a:cs typeface="Calibri"/>
                <a:sym typeface="Calibri"/>
              </a:rPr>
              <a:t>Low-resource lecture benchmark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274320" y="1728216"/>
            <a:ext cx="8595360" cy="38404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320040" y="172821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TreeSeg / TinyRec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2350008" y="172821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3099816" y="172821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Unsupervised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4855464" y="1728216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Pk/WD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5989320" y="172821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7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Hierarchical text segmentation; Pk=0.367 on own 21-video dataset (</a:t>
            </a:r>
            <a:r>
              <a:rPr lang="en-US" sz="700" b="0" i="0" u="none" strike="noStrike" cap="none" dirty="0" err="1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TinyRec</a:t>
            </a:r>
            <a:r>
              <a:rPr lang="en-US" sz="7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). Different dataset. Our Pk=0.3588 is in the same range with ZERO labeled training data vs their unsupervised method.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274320" y="2139696"/>
            <a:ext cx="8595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320040" y="213969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MiniSeg/YTSEG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2350008" y="213969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19,299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3099816" y="213969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Supervised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4855464" y="2139696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Pk/BS/F1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5989320" y="213969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Supervised, 19K videos, general YouTube. Incompatible scope.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274320" y="2551176"/>
            <a:ext cx="8595360" cy="38404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320040" y="255117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Chapter-Gen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2350008" y="255117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9,631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3099816" y="255117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Supervised multimodal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4855464" y="2551176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AP/Recall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5989320" y="255117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Supervised multimodal, 9K videos. Different metrics (AP/Recall).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274320" y="2962656"/>
            <a:ext cx="8595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320040" y="296265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VidChapters-7M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2350008" y="296265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817,000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3099816" y="296265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Large-scale fine-tuned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4855464" y="2962656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SODA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5989320" y="296265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817K videos, fine-tuned LLM. SODA metric. Completely different scope.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274320" y="3374136"/>
            <a:ext cx="8595360" cy="38404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320040" y="337413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Chapter-Llama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2350008" y="337413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10,000+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3099816" y="337413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Trained LLM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4855464" y="3374136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F1=45.3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5989320" y="3374136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LLM trained on 10K+ lectures. F1=45.3. Not reproducible without training data.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274320" y="3794760"/>
            <a:ext cx="8595360" cy="1234440"/>
          </a:xfrm>
          <a:prstGeom prst="roundRect">
            <a:avLst>
              <a:gd name="adj" fmla="val 7407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Our Positioning: Different Purpose, Not Different Scale — We ESTABLISHED the Benchmark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4339883" y="3886649"/>
            <a:ext cx="4164037" cy="79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GB" sz="7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
  Other systems are MODELS — they report results on their own private test sets.
  We are a BENCHMARK — others can reproduce and compare on our </a:t>
            </a:r>
            <a:r>
              <a:rPr lang="en-GB" sz="700" b="0" i="0" u="none" strike="noStrike" cap="none" dirty="0" err="1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set.hierarchical</a:t>
            </a:r>
            <a:r>
              <a:rPr lang="en-GB" sz="7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 annotation. We established a benchmark others can now use and build on. Large benchmarks measure aggregate </a:t>
            </a:r>
            <a:r>
              <a:rPr lang="en-GB" sz="700" b="0" i="0" u="none" strike="noStrike" cap="none" dirty="0" err="1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performancec</a:t>
            </a:r>
            <a:r>
              <a:rPr lang="en-GB" sz="7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 understanding — every prediction traces back to its source video, every failure is documented rather than averaged away.</a:t>
            </a:r>
            <a:endParaRPr lang="en-GB"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lang="en-GB"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1000"/>
              <a:buFont typeface="Calibri"/>
              <a:buNone/>
            </a:pPr>
            <a:r>
              <a:rPr lang="en-GB" sz="8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The granularity mismatch finding and oracle-gap diagnosis are results that require inspecting every video individually. At 817,000 videos, this is impossible.</a:t>
            </a:r>
            <a:endParaRPr lang="en-GB"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4F8284-FF36-962F-21A5-AF2F5A1D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538104"/>
              </p:ext>
            </p:extLst>
          </p:nvPr>
        </p:nvGraphicFramePr>
        <p:xfrm>
          <a:off x="1524000" y="53975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19041845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03456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576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83D2275-07A3-D1E9-5866-45E4C9935143}"/>
              </a:ext>
            </a:extLst>
          </p:cNvPr>
          <p:cNvSpPr txBox="1"/>
          <p:nvPr/>
        </p:nvSpPr>
        <p:spPr>
          <a:xfrm>
            <a:off x="457200" y="4100677"/>
            <a:ext cx="4586066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Why LecSeg-30 IS a Benchmark (while other systems are NOT):
  A benchmark must provide all of these — others provide only some:
  ✓ Fixed public evaluation set → 30 videos on YouTube (anyone can access)
  ✓ Standard metrics → Pk / WD with bootstrap confidence intervals
  ✓ Published baselines → 7 methods with exact Pk/WD numbers
  </a:t>
            </a:r>
            <a:r>
              <a:rPr lang="en-GB" sz="70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✓ Full reproducibility → all code, annotations, and data public</a:t>
            </a:r>
          </a:p>
          <a:p>
            <a:r>
              <a:rPr lang="en-GB" sz="700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 ✓ Oracle analysis → ceiling known, bottleneck identified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6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We Contributed to the Field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274320" y="77724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274320" y="85039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9A8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274320" y="8503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731520" y="85039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LecSeg-30 Benchmark  (Primary Artifact)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731520" y="1161288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30 YouTube lectures · 5 domains · 32.52 hours · 419 creator chapter boundaries · 904 reviewed subtopic labels. Two-level hierarchy with consistency estimates. Makes low-resource lecture segmentation MEASURABLE and REPRODUCIBLE under a shared protocol. We ESTABLISHED this benchmark — the first of its kind for lectures with Pk/WD + IAA + oracle analysis.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274320" y="164592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6"/>
          <p:cNvSpPr/>
          <p:nvPr/>
        </p:nvSpPr>
        <p:spPr>
          <a:xfrm>
            <a:off x="274320" y="17190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274320" y="17190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731520" y="171907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Candidate-Selection Bottleneck Finding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731520" y="2029968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Oracle analysis shows 96.8% recall exists at Pk = 0.0172 — correct boundaries ARE in the pool. The ΔPk ≈ 0.34 gap is a ranking problem, not a detection problem. Directly reshapes the research agenda for all future work.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274320" y="251460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274320" y="25877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274320" y="2587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731520" y="258775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Granularity-Mismatch Diagnosis  (Most Transferable)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731520" y="2898648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Systematic ablation proves WHY prosody, </a:t>
            </a:r>
            <a:r>
              <a:rPr lang="en-US" sz="950" b="0" i="0" u="none" strike="noStrike" cap="none" dirty="0" err="1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BERTopic</a:t>
            </a:r>
            <a:r>
              <a:rPr lang="en-US" sz="950" b="0" i="0" u="none" strike="noStrike" cap="none" dirty="0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, discourse markers, and perplexity hurt Pk/WD — they fire at discourse level, not editorial level. CLIP works for the principled complementary reason. Informs all future multimodal lecture segmentation design.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274320" y="338328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274320" y="345643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6"/>
          <p:cNvSpPr/>
          <p:nvPr/>
        </p:nvSpPr>
        <p:spPr>
          <a:xfrm>
            <a:off x="274320" y="34564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731520" y="345643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9C27B0"/>
                </a:solidFill>
                <a:latin typeface="Calibri"/>
                <a:ea typeface="Calibri"/>
                <a:cs typeface="Calibri"/>
                <a:sym typeface="Calibri"/>
              </a:rPr>
              <a:t>Hierarchical Annotation Protocol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731520" y="3767328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Two-level annotation workflow with nesting constraint (Bchapter ⊆ Bsubtopic), consistency estimates, and documented procedure. No existing lecture benchmark combines hierarchy + Pk/WD + bootstrap CIs.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274320" y="425196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0F2D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6"/>
          <p:cNvSpPr/>
          <p:nvPr/>
        </p:nvSpPr>
        <p:spPr>
          <a:xfrm>
            <a:off x="274320" y="432511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6"/>
          <p:cNvSpPr/>
          <p:nvPr/>
        </p:nvSpPr>
        <p:spPr>
          <a:xfrm>
            <a:off x="274320" y="43251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731520" y="432511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Reproducibility Package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731520" y="4636008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B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3EBF0"/>
                </a:solidFill>
                <a:latin typeface="Calibri"/>
                <a:ea typeface="Calibri"/>
                <a:cs typeface="Calibri"/>
                <a:sym typeface="Calibri"/>
              </a:rPr>
              <a:t>Full open pipeline: Whisper → spaCy → BGE/E5 → CLIP/OCR/TransNetV2 → 7 baselines + 4 pipeline components → Pk/WD evaluation with bootstrap stats. Streamlit demo. 177+ automated tests. All results regenerable from scripts.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7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4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0F2D54"/>
                </a:solidFill>
                <a:latin typeface="Cambria"/>
                <a:ea typeface="Cambria"/>
                <a:cs typeface="Cambria"/>
                <a:sym typeface="Cambria"/>
              </a:rPr>
              <a:t>Honest Assessment — What We Cannot Claim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274320" y="749808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7"/>
          <p:cNvSpPr/>
          <p:nvPr/>
        </p:nvSpPr>
        <p:spPr>
          <a:xfrm>
            <a:off x="274320" y="8046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651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274320" y="8046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658368" y="804672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⚠️  30 videos is small (Math domain only 4)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658368" y="1097280"/>
            <a:ext cx="79552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↳  Acknowledged. 30 matches prior low-resource work. Bootstrap CIs quantify uncertainty. Selector failure on Math explicitly reported.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/>
          <p:nvPr/>
        </p:nvSpPr>
        <p:spPr>
          <a:xfrm>
            <a:off x="274320" y="1545336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7"/>
          <p:cNvSpPr/>
          <p:nvPr/>
        </p:nvSpPr>
        <p:spPr>
          <a:xfrm>
            <a:off x="274320" y="16002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628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274320" y="1600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658368" y="160020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⚠️  YouTube chapters = editorial choices, not pedagogical ground truth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658368" y="1892808"/>
            <a:ext cx="79552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↳  Treated as creator-aligned navigation metadata only. We never claim pedagogical optimality. Human pedagogical validation listed as future work.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274320" y="2340864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7"/>
          <p:cNvSpPr/>
          <p:nvPr/>
        </p:nvSpPr>
        <p:spPr>
          <a:xfrm>
            <a:off x="274320" y="239572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A1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7"/>
          <p:cNvSpPr/>
          <p:nvPr/>
        </p:nvSpPr>
        <p:spPr>
          <a:xfrm>
            <a:off x="274320" y="23957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7"/>
          <p:cNvSpPr/>
          <p:nvPr/>
        </p:nvSpPr>
        <p:spPr>
          <a:xfrm>
            <a:off x="658368" y="2395728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⚠️  Annotation uses same LLM draft for both passes → not truly independent IAA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658368" y="2688336"/>
            <a:ext cx="79552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↳  Renamed 'workflow consistency estimate' throughout thesis. Chapter κ is inflated (shared metadata). Subtopic κ = 0.426 is the meaningful figure.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274320" y="3136392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7"/>
          <p:cNvSpPr/>
          <p:nvPr/>
        </p:nvSpPr>
        <p:spPr>
          <a:xfrm>
            <a:off x="274320" y="31912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7"/>
          <p:cNvSpPr/>
          <p:nvPr/>
        </p:nvSpPr>
        <p:spPr>
          <a:xfrm>
            <a:off x="274320" y="31912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658368" y="3191256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⚠️  Selector fails under leave-domain-out (Pk = 0.401 — worse than baseline)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658368" y="3483864"/>
            <a:ext cx="79552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↳  Explicitly acknowledged in both methodology and results. Selector = low-resource benchmark operating point, NOT a production deployment model.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274320" y="393192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27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7"/>
          <p:cNvSpPr/>
          <p:nvPr/>
        </p:nvSpPr>
        <p:spPr>
          <a:xfrm>
            <a:off x="274320" y="3986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097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7"/>
          <p:cNvSpPr/>
          <p:nvPr/>
        </p:nvSpPr>
        <p:spPr>
          <a:xfrm>
            <a:off x="274320" y="398678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L5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658368" y="3986784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⚠️  LLM boundary refinement does NOT improve Pk in current experiments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658368" y="4279392"/>
            <a:ext cx="79552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↳  Reported as diagnostic only. LLM titling works offline. Not overclaimed. Future: larger model or task-specific fine-tuning.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TextBox 631"/>
          <p:cNvSpPr txBox="1"/>
          <p:nvPr/>
        </p:nvSpPr>
        <p:spPr>
          <a:xfrm>
            <a:off x="182880" y="109728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Final Verdict — What We Achieved and What Comes Next</a:t>
            </a:r>
          </a:p>
        </p:txBody>
      </p:sp>
      <p:sp>
        <p:nvSpPr>
          <p:cNvPr id="997" name="rule"/>
          <p:cNvSpPr>
            <a:spLocks noGrp="1"/>
          </p:cNvSpPr>
          <p:nvPr/>
        </p:nvSpPr>
        <p:spPr>
          <a:xfrm>
            <a:off x="182880" y="594360"/>
            <a:ext cx="8778240" cy="0"/>
          </a:xfrm>
          <a:prstGeom prst="line">
            <a:avLst/>
          </a:prstGeom>
          <a:ln w="9525">
            <a:solidFill>
              <a:srgbClr val="3A3F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8" name="Rectangle 997"/>
          <p:cNvSpPr/>
          <p:nvPr/>
        </p:nvSpPr>
        <p:spPr>
          <a:xfrm>
            <a:off x="182880" y="667512"/>
            <a:ext cx="2852927" cy="4055363"/>
          </a:xfrm>
          <a:prstGeom prst="rect">
            <a:avLst/>
          </a:prstGeom>
          <a:solidFill>
            <a:srgbClr val="0A1023"/>
          </a:solidFill>
          <a:ln w="9525">
            <a:solidFill>
              <a:srgbClr val="0C3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9" name="Rectangle 998"/>
          <p:cNvSpPr/>
          <p:nvPr/>
        </p:nvSpPr>
        <p:spPr>
          <a:xfrm>
            <a:off x="182880" y="667512"/>
            <a:ext cx="2852927" cy="301752"/>
          </a:xfrm>
          <a:prstGeom prst="rect">
            <a:avLst/>
          </a:prstGeom>
          <a:solidFill>
            <a:srgbClr val="124B2A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✅  What We Achieved</a:t>
            </a:r>
          </a:p>
        </p:txBody>
      </p:sp>
      <p:sp>
        <p:nvSpPr>
          <p:cNvPr id="1000" name="TextBox 999"/>
          <p:cNvSpPr txBox="1"/>
          <p:nvPr/>
        </p:nvSpPr>
        <p:spPr>
          <a:xfrm>
            <a:off x="274320" y="1005840"/>
            <a:ext cx="2670047" cy="3671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FFD246"/>
                </a:solidFill>
              </a:rPr>
              <a:t>Pk = 0.3588  /  WD = 0.3739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50C878"/>
                </a:solidFill>
              </a:rPr>
              <a:t>p = 0.025 vs all baselines</a:t>
            </a:r>
          </a:p>
          <a:p>
            <a:pPr>
              <a:spcAft>
                <a:spcPts val="100"/>
              </a:spcAft>
            </a:pPr>
            <a:endParaRPr sz="900" b="0">
              <a:solidFill>
                <a:srgbClr val="50C878"/>
              </a:solidFill>
            </a:endParaRP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BEC3D7"/>
                </a:solidFill>
              </a:rPr>
              <a:t>Matches TreeSeg Pk=0.367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with ZERO training labels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50C878"/>
                </a:solidFill>
              </a:rPr>
              <a:t>External lecture video: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Pk=0.3974 ≈ benchmark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(confirms signal generalizes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within lecture format)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Fully offline, no API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First public benchmark</a:t>
            </a:r>
          </a:p>
        </p:txBody>
      </p:sp>
      <p:sp>
        <p:nvSpPr>
          <p:cNvPr id="1001" name="Rectangle 1000"/>
          <p:cNvSpPr/>
          <p:nvPr/>
        </p:nvSpPr>
        <p:spPr>
          <a:xfrm>
            <a:off x="3145536" y="667512"/>
            <a:ext cx="2852927" cy="4055363"/>
          </a:xfrm>
          <a:prstGeom prst="rect">
            <a:avLst/>
          </a:prstGeom>
          <a:solidFill>
            <a:srgbClr val="0A1023"/>
          </a:solidFill>
          <a:ln w="9525">
            <a:solidFill>
              <a:srgbClr val="412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2" name="Rectangle 1001"/>
          <p:cNvSpPr/>
          <p:nvPr/>
        </p:nvSpPr>
        <p:spPr>
          <a:xfrm>
            <a:off x="3145536" y="667512"/>
            <a:ext cx="2852927" cy="301752"/>
          </a:xfrm>
          <a:prstGeom prst="rect">
            <a:avLst/>
          </a:prstGeom>
          <a:solidFill>
            <a:srgbClr val="58320E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⚠️  Honest Limitations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3236976" y="1005840"/>
            <a:ext cx="2670047" cy="3671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0A032"/>
                </a:solidFill>
              </a:rPr>
              <a:t>Selector leave-domain-out:</a:t>
            </a:r>
          </a:p>
          <a:p>
            <a:pPr>
              <a:spcAft>
                <a:spcPts val="100"/>
              </a:spcAft>
            </a:pPr>
            <a:r>
              <a:rPr sz="1000" b="1">
                <a:solidFill>
                  <a:srgbClr val="FFD246"/>
                </a:solidFill>
              </a:rPr>
              <a:t>Pk = 0.4012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(below BGE-div baseline)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BEC3D7"/>
                </a:solidFill>
              </a:rPr>
              <a:t>30 videos is modest: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bootstrap CIs are wide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BEC3D7"/>
                </a:solidFill>
              </a:rPr>
              <a:t>LLM titles work;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positions do NOT improve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BEC3D7"/>
                </a:solidFill>
              </a:rPr>
              <a:t>Not comparable to large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supervised systems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(different scope/data)</a:t>
            </a:r>
          </a:p>
        </p:txBody>
      </p:sp>
      <p:sp>
        <p:nvSpPr>
          <p:cNvPr id="1004" name="Rectangle 1003"/>
          <p:cNvSpPr/>
          <p:nvPr/>
        </p:nvSpPr>
        <p:spPr>
          <a:xfrm>
            <a:off x="6108192" y="667512"/>
            <a:ext cx="2852927" cy="4055363"/>
          </a:xfrm>
          <a:prstGeom prst="rect">
            <a:avLst/>
          </a:prstGeom>
          <a:solidFill>
            <a:srgbClr val="0A1023"/>
          </a:solidFill>
          <a:ln w="9525">
            <a:solidFill>
              <a:srgbClr val="0C2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5" name="Rectangle 1004"/>
          <p:cNvSpPr/>
          <p:nvPr/>
        </p:nvSpPr>
        <p:spPr>
          <a:xfrm>
            <a:off x="6108192" y="667512"/>
            <a:ext cx="2852927" cy="301752"/>
          </a:xfrm>
          <a:prstGeom prst="rect">
            <a:avLst/>
          </a:prstGeom>
          <a:solidFill>
            <a:srgbClr val="12306C"/>
          </a:solidFill>
          <a:ln w="9525">
            <a:solidFill>
              <a:srgbClr val="32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🚀  What Comes Next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6199631" y="1005840"/>
            <a:ext cx="2670047" cy="3671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64B4FF"/>
                </a:solidFill>
              </a:rPr>
              <a:t>Supervised boundary ranker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→ close ΔPk=0.34 gap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(oracle shows this is the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selection bottleneck)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64B4FF"/>
                </a:solidFill>
              </a:rPr>
              <a:t>CLIP-centered fusion: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already at right granularity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64B4FF"/>
                </a:solidFill>
              </a:rPr>
              <a:t>200+ lectures → robust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selector training</a:t>
            </a:r>
          </a:p>
          <a:p>
            <a:pPr>
              <a:spcAft>
                <a:spcPts val="100"/>
              </a:spcAft>
            </a:pPr>
            <a:endParaRPr sz="800" b="0">
              <a:solidFill>
                <a:srgbClr val="BEC3D7"/>
              </a:solidFill>
            </a:endParaRP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64B4FF"/>
                </a:solidFill>
              </a:rPr>
              <a:t>Cross-lingual: LaBSE +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BEC3D7"/>
                </a:solidFill>
              </a:rPr>
              <a:t>multilingual Whisper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182880" y="4777739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246"/>
                </a:solidFill>
              </a:rPr>
              <a:t>LecSeg-30 proves: zero-shot lecture segmentation IS achievable. We built it, measured it, and diagnosed the bottleneck (ΔPk=0.34 — a selection problem).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eeba753b41_0_0"/>
          <p:cNvSpPr/>
          <p:nvPr/>
        </p:nvSpPr>
        <p:spPr>
          <a:xfrm>
            <a:off x="515806" y="2319351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ANY</a:t>
            </a:r>
            <a:endParaRPr sz="3400" b="1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4300" b="1" i="0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43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QUESTIONS ?</a:t>
            </a:r>
            <a:endParaRPr sz="43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3eeba753b41_0_0"/>
          <p:cNvSpPr/>
          <p:nvPr/>
        </p:nvSpPr>
        <p:spPr>
          <a:xfrm>
            <a:off x="537794" y="899455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4955</Words>
  <Application>Microsoft Office PowerPoint</Application>
  <PresentationFormat>On-screen Show (16:9)</PresentationFormat>
  <Paragraphs>581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israk tyty</cp:lastModifiedBy>
  <cp:revision>1</cp:revision>
  <dcterms:created xsi:type="dcterms:W3CDTF">2026-06-10T14:13:00Z</dcterms:created>
  <dcterms:modified xsi:type="dcterms:W3CDTF">2026-06-12T12:25:47Z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05DEBC66F9D64F0F803B6C796E415C57_12</vt:lpwstr>
  </property>
  <property fmtid="{D5CDD505-2E9C-101B-9397-08002B2CF9AE}" pid="3" name="KSOProductBuildVer">
    <vt:lpwstr>1033-12.2.0.22549</vt:lpwstr>
  </property>
</Properties>
</file>