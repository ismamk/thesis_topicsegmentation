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5486400"/>
            <a:ext cx="1463040" cy="146304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6858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LecSeg-30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C4F0"/>
                </a:solidFill>
              </a:rPr>
              <a:t>A Reproducible Low-Resource Benchmark and Diagnostic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0B4E0"/>
                </a:solidFill>
              </a:rPr>
              <a:t>for Lecture-Video Topic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</a:rPr>
              <a:t>Ismam Khan  ·  Fahmida Afrin Moon  ·  Shahriar Islam Rafi  ·  Alimool Razi  ·  Sadia Alam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B4E0"/>
                </a:solidFill>
              </a:rPr>
              <a:t>Supervisor: Mr. Annajiat Alim Rasel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All code, data, scripts public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LOW-RESOURCE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Only 30 videos — no GPU farm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30 lectures, 5 domains, 419 chapters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What works, what fails, and why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LECTURE-VIDEO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Academic YouTube content specifically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90C0"/>
                </a:solidFill>
              </a:rPr>
              <a:t>BRAC University · Dept. of CSE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Talk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15-minute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508760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Problem
&amp;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Why lecture navigation is broken;
what was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4" y="1234440"/>
            <a:ext cx="1508760" cy="2011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4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Dataset
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4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How we built LecSeg-30;
GPU transcription on vast.ai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1234440"/>
            <a:ext cx="1508760" cy="20116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Methods
Tried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All 11 approaches:
what each does and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8112" y="1234440"/>
            <a:ext cx="1508760" cy="201168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What
Worked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Results per method with verdict;
granularity finding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8896" y="1234440"/>
            <a:ext cx="1508760" cy="20116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The
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Supervised meta-model:
what we fed it, what it chose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234440"/>
            <a:ext cx="1508760" cy="2011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Comparison
to Prior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Supervised vs unsupervised;
direct &amp; indirect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0464" y="1234440"/>
            <a:ext cx="1508760" cy="20116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00816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16184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Web App
&amp; Verdict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Real-world application;
final answer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520440"/>
            <a:ext cx="114300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520440"/>
            <a:ext cx="114300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Why This Research Matters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Students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Cannot navigate 3-hour lectures
without manual chapter markers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Educators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Creating chapter markers manually
is expensive and inconsistent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Scale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Millions of YouTube lectures
have ZERO structured navigation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Research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No compact lecture benchmark
with Pk/WD + hierarchy + stats existed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We Built LecSeg-30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Data collection, GPU transcription, annotation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389888" cy="1691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YouTube
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5 domains;
140+ candidate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143000"/>
            <a:ext cx="1389888" cy="169164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Quality
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Duration ≥15 min;
≥4 chapters;
English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 Videos
Selected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32.52 h total;
419 creator chapters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Audio
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yt-dlp;
ffmpeg mp4→wav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143000"/>
            <a:ext cx="1389888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vast.ai
GPU Rental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RTX 5090;
~\$0.67/hr;
shutdown after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Whisper
Transcription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large-v3;
17.9x realtime;
46,525 sentences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1143000"/>
            <a:ext cx="1389888" cy="1691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Draft
Annotation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Llama-3.1-8B
(Ollama local);
subtopic drafts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1143000"/>
            <a:ext cx="1389888" cy="169164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6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Streamlit tool;
correct + approve
each boundary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017520"/>
            <a:ext cx="4114800" cy="21031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3017520"/>
            <a:ext cx="41148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154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Why vast.ai?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547872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Whisper large-v3 requires 16+ GB VRAM.
Local hardware insufficient for 30+ hour corpus.
Solution: rent RTX 5090 on vast.ai (~\$0.67/hr).
Total cost: ~\$3-4 for all 30 videos.
Instance destroyed immediately after download
to stop billing.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017520"/>
            <a:ext cx="3840480" cy="2103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0" y="3017520"/>
            <a:ext cx="384048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Dataset Numbers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 30  lecture videos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32.52 h  total audio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46,525  sentences (spaCy)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608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419  YouTube chapter boundaries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904  reviewed subtopic labels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301752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95360" y="3017520"/>
            <a:ext cx="3383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32520" y="3154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5 Domains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3566160"/>
            <a:ext cx="1959428" cy="25603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0808" y="3593591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Biology (6)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3877056"/>
            <a:ext cx="2286000" cy="25603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0808" y="3904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Computer Science (7)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32520" y="4187952"/>
            <a:ext cx="1306285" cy="2560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50808" y="421538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Mathematics (4)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32520" y="4498848"/>
            <a:ext cx="1959428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0808" y="45262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Philosophy (6)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20" y="4809744"/>
            <a:ext cx="2286000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50808" y="48371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Physics (7)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From raw video to sentence-level feature vectors — every tool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1. Video
Download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yt-dlp
Output: mp4 file
+ metadata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5351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Audio + video
saved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2. Audio
Extraction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ffmpeg
Format: 16kHz WAV
Mono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5351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Raw waveform
for ASR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143000"/>
            <a:ext cx="27432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3. ASR
Transcription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faster-whisper
Model: large-v3 (GPU)
VAD pre-filtering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53512"/>
            <a:ext cx="2560320" cy="47548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Whisper segments
with timestamps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143000"/>
            <a:ext cx="274320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4. Sentence
Splitting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spaCy en_core_web_sm
Merge &lt;3-token segments
Proportional timestamps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53512"/>
            <a:ext cx="2560320" cy="4754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N=847±512 sentences
per video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749039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5. Text
Embedding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Models: BGE-large, E5-large,
MPNet, MiniLM (CPU ok)
Output: (N,D) float32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5955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Sentence vectors
for boundary scoring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00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0" y="3749039"/>
            <a:ext cx="27432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6. Shot
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TransNetV2
25fps boundary probs
Threshold: 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559552"/>
            <a:ext cx="256032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Visual scene
change signals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3749039"/>
            <a:ext cx="27432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7. Slide
OCR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PaddleOCR
Sample: 0.5 fps keyframes
Deduplicate ±3-sent window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5559552"/>
            <a:ext cx="256032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Slide text
per sentence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36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3749039"/>
            <a:ext cx="274320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8. Prosody
Features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Pause duration: Whisper gaps≥300ms
Pitch (F0): PYIN via librosa
Z-scored per video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5559552"/>
            <a:ext cx="2560320" cy="47548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scalar features
per sentence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Annotation: Two-Level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Chapters (creator-provided) + Subtopics (LLM-assisted human 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LEVEL 1: Chapter Boundaries (Ground Truth)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Source: YouTube chapter metadata created by the video author
Advantages: reproducible, publicly verifiable, reflects real viewer navigation behavior
Limitation: editorial choices (may be early/late, inconsistent granularity) — treated as navigation metadata, not pedagogical gold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1161288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54680"/>
            <a:ext cx="116128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735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LEVEL 2: Subtopic Boundaries (LLM-Assisted Human Review)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Chapter
boundaries fixed
from 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Given to annotator
as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43484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3703320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Pass 1: LLM
(Llama-3.1-8B
Ollama local)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343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Generates draft
subtopic boundaries
for each chapter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43484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624" y="3703320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Pass 2: Human
Reviewer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4343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Uses Streamlit tool
(scripts/annotate.py)
to correct drafts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43484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3703320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IAA Check
(Cohen's kappa)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4343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Second LLM pass
without seeing first
κ=0.43 subtopic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4434840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8048" y="3703320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37490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Final Labels
904 subtopics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4343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Stored in
data/gt_hier/
30 videos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925312"/>
            <a:ext cx="11612880" cy="7315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618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Chapter:   [Introduction]              [Methodology]              [Results]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C4F0"/>
                </a:solidFill>
              </a:rPr>
              <a:t>Subtopic:  [Intro][Problem][Setup]      [N1][N2][N3][N4]           [Results][Discussion]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Metrics: Pk &amp; WindowDiff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The industry standard for topic segmentation — used since 1999, still current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Pk  (Beeferman et al., 1999)  —  lower is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ALGORITHM: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Compute k = floor(N / 2K)  where N=sentences, K=reference boundaries
2. Slide a window of width k across ALL sentence pairs (i, i+k)
3. For each pair: check if reference says 'same segment'
4. Check if prediction agrees
5. Count disagreements ÷ total pairs = Pk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VISUAL EXAMPLE  (k=3, 10 sentences, boundary at S4 and S7):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858768"/>
            <a:ext cx="43891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858768"/>
            <a:ext cx="43891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06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     ↑ bnd            ↑ bnd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1508760" cy="2286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279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window (k=3)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INTERPRETATION: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  0.0      = Perfect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  0.35-0.40 = Good for 30-video lecture corpus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9495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</a:rPr>
              <a:t>  0.5      = Random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  1.0      = Worst possible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143000"/>
            <a:ext cx="5669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WindowDiff  (Pevzner &amp; Hearst, 2002)  —  lower is better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19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KEY DIFFERENCE FROM Pk: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0116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Instead of asking 'same segment yes/no?',
WindowDiff counts BOUNDARIES INSIDE each window:
  Error = |count_in_reference - count_in_prediction|
This catches OVER-SEGMENTATION that Pk sometimes misses.
If your system places 3 boundaries where reference has 1,
WD penalises all 3 insertions; Pk might only see 1 error.
WD ≥ Pk almost always.
If WD &gt;&gt; Pk: your system is over-segmenting.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WHY WE USE BOTH: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38928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Pk: measures window-consistency; standard since 1999
WD: penalises over-prediction more heavily
Together they give a balanced picture of boundary quality.
We also add: Boundary Similarity (BS) and Tolerance-F1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Everything We Tried: 11 Method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Full experimental landscape — classical, neural, novel, multimodal, supervised probes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How it works (1 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Vocab overlap sliding window; boundary = local vocab minimum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0.605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Worst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46904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Rank-transform cosine matrix; diagonal block clustering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8632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4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SBERT/BGE vectors; cosine drop depth-score valleys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8632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46904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K-means cluster embeddings; label-change = boundary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8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0.617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28632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Over-segs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46904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Like CosineSeg, larger window (w=5); approximates SegBot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87768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0.489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5176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 Divisive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06040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46904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Recursive max-cosine-dissimilarity split (TreeSeg-style)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87768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28632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baseline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06040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N1+N2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46904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Two-stage predictor fused with pause/pitch signals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87768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0.433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28632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5C00"/>
                </a:solidFill>
              </a:rPr>
              <a:t>⚠ F1 up, Pk worse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5176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06040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N1+N3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46904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Two-stage + nested chapter/subtopic output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87768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28632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5C00"/>
                </a:solidFill>
              </a:rPr>
              <a:t>⚠ Useful structure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5176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Cross-Model (E5)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06040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N2 cross-model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46904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BGE+E5 both score; keep only agreed boundaries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87768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28632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Pk/WD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5176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CLIP+Text fusion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06040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N2+visual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46904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Entropy-weighted text+visual boundary scoring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87768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28632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Near best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06040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46904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ExtraTrees picks best method per video (LOO-CV)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87768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28632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mean Pk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19963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 closer to 0 = better. BGE-Divisive (0.388) is the reference baseline. Everything above it is an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Core Methods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Under the hood: from sentence vectors to boundary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BGE Divisive
(Best 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Embed all N sentences with BAAI/bge-large-en-v1.5 (1024-dim)
2. Build cosine dissimilarity matrix between all pairs
3. Recursively split: find position of maximum dissimilarity
4. Each split creates two segments; repeat until n_segments reached
5. Segment boundaries = split positions
Why it works: BGE captures long-range semantic shift;
recursive splitting naturally finds the biggest topic jumps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Cross-Model Conservative
(Best Global)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Run BGE-large independently: produces boundary set B1
2. Run E5-large independently: produces boundary set B2
3. Keep ONLY boundaries where both models agree: B* = B1 ∩ B2
4. Apply minimum-length filter (min 11 sentences/segment)
Why it works: Reduces false positives dramatically.
If only one model sees a boundary, it's probably noise.
Conservative = fewer boundaries, better Pk/WD.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CLIP Visual Fusion
(Promising Signal)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Extract video keyframes at 1 fps
2. Embed each frame with CLIP ViT-B/32 (512-dim)
3. Compute cosine dissimilarity between consecutive frames
4. This gives a 'visual boundary score' per sentence
5. Fuse with text score via entropy weighting (N2)
Why it partially works: Slide transitions ARE editorial decisions
comparable to chapter granularity.
Alone: Pk=0.396. Fused with text: Pk=0.374.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Novel Methods N1 &amp; N2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Two-Stage Predictor + Reliability-Weighted 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N1: Two-Stage Boundary Predictor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</a:rPr>
              <a:t>PROBLEM: single threshold can't balance recall vs precision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394960" cy="15544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3055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1
Broad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3055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Threshold: mean − 0.5σ
(LOOSE — keeps ~50% of positions)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Goal: HIGH RECALL
Almost all real boundaries included
Many false positives — that's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2D6ABF"/>
                </a:solidFill>
              </a:rPr>
              <a:t>↓ pass candidates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394960" cy="155448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1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STAGE 2
Refinement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22191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Threshold: mean + 1.2σ
(TIGHT — only strong evidence)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Goal: HIGH PRECISION
Filter candidates by fused signal
False positives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32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Result: improves over single-pass CosineSeg (0.490 → used in 0.371 pipeline)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143000"/>
            <a:ext cx="566928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N2: Reliability-Weighted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19072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INPUT: multiple modality boundary score arrays (one per sentence gap)
  text_scores   = cosine dissimilarity from BGE/E5 [shape: N-1]
  visual_scores = CLIP frame dissimilarity     [shape: N-1]
  prosody_scores= pause + pitch signal          [shape: N-1]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718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A2"/>
                </a:solidFill>
              </a:rPr>
              <a:t>FORMULA: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73552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  H(m) = normalised Shannon entropy of modality m's scores
  w(m) = exp(-H(m)) / sum of all exp(-H(m'))
  fused = sum( w(m) * normalise(scores(m)) 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519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A2"/>
                </a:solidFill>
              </a:rPr>
              <a:t>INTUITION: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539496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636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Text (BGE): H=LOW entropy → HIGH weight → Sharp peaks at real boundaries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10912"/>
            <a:ext cx="539496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074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Visual (CLIP): H=MEDIUM entropy → MEDIUM weight → Slide changes match chapters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449824"/>
            <a:ext cx="539496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5138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Prosody: H=HIGH entropy → LOW weight → Too flat — auto down-weighted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Worked &amp;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Every approach tested with Pk result and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1323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713232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Pk Results (lower = better; 0=perfect, 0.5=random)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282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719072"/>
            <a:ext cx="4681024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2744" y="175564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579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148840"/>
            <a:ext cx="4773871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5591" y="218541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87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578608"/>
            <a:ext cx="3791243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2963" y="261518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008375"/>
            <a:ext cx="3783505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5225" y="3044951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447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438144"/>
            <a:ext cx="3265111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831" y="347472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87705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867911"/>
            <a:ext cx="3350220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1940" y="3904487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3068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297680"/>
            <a:ext cx="3187739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9459" y="433425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736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BGE-Divisive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727448"/>
            <a:ext cx="3002045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3765" y="476402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8901" y="4608576"/>
            <a:ext cx="18288" cy="534924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1663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CLIP+Text Fusion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157216"/>
            <a:ext cx="2893724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5444" y="5193792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596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(E5)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586984"/>
            <a:ext cx="2870512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02232" y="562356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02589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6016751"/>
            <a:ext cx="2777665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9385" y="6053327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6327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← baseline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1143000"/>
            <a:ext cx="43891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1143000"/>
            <a:ext cx="43891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12618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Why Methods Failed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1719072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17739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TextTiling
KMeansSeg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1773936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No dense embeddings.
Vocab overlap too sparse
for technical lectures.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706624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27614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Prosody signals
(Pk=0.417)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276148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Pauses/pitch detect FINE
transitions (subtopic level).
Granularity mismatch.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694176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37490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BERTopic
(Pk=0.563)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3749039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Topic model finds subtopics,
not chapter-level editorial
decisions.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4681728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4736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LLM zero-shot
3 videos (Pk=0.406)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473659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Over-segments. High recall
but poor precision without
fine-tuning.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5669280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7241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Supervised BERT-wiki
(Pk=0.493)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572414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Out-of-domain. Wikipedia
text ≠ spoken lecture
transcripts.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Finding: The Granularity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The single most actionable result from this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82296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Every acoustic/linguistic signal we tested produced WORSE Pk than text embeddings.
Cause: these signals detect FINE-GRAINED transitions (subtopic level), not the COARSE editorial decisions YouTube chapters represent.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777240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777240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Signal vs Pk (lower = better):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435606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60904"/>
            <a:ext cx="42646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BERTopic topic shifts: Pk=0.563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7268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Subtopic-level clusters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44952"/>
            <a:ext cx="357460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99816"/>
            <a:ext cx="348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Discourse markers: Pk=0.462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808" y="309981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Sentence-level connectives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83864"/>
            <a:ext cx="3234162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38728"/>
            <a:ext cx="314272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GPT-2 perplexity: Pk=0.418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5370" y="35387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Sentence-level surprise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3226425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313498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Pause/pitch (prosody): Pk=0.417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7633" y="39776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Speaker breath resets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61688"/>
            <a:ext cx="3002045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16551"/>
            <a:ext cx="291060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BGE text embedding: Pk=0.388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3253" y="4416551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Paragraph semantic shift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800600"/>
            <a:ext cx="3063943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55464"/>
            <a:ext cx="2972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CLIP visual (solo): Pk=0.396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5151" y="4855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Slide scene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39512"/>
            <a:ext cx="2893724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94376"/>
            <a:ext cx="28022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CLIP + text fusion: Pk=0.374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4932" y="529437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Best non-text signal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78424"/>
            <a:ext cx="2870512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733288"/>
            <a:ext cx="277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Cross-model (best): Pk=0.371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1720" y="57332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Conservative selection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2103120"/>
            <a:ext cx="3749039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2103120"/>
            <a:ext cx="3749039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2212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Why CLIP Is Different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60604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YouTube chapters = deliberate
editor choices at CHAPTER level:
  'Introduction to Eigenvalues'
  'Characteristic Equation'
  'Physics Applications'
Acoustic signals fire at EVERY:
  pause, pitch reset, discourse marker
  (×5-10 more often than chapters)
Slide transitions in lectures ARE
editorial chapter-level decisions.
CLIP sees the same editorial intent.
Practical implication:
Add CLIP + text, suppress prosody.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Method Selector: Full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Supervised meta-model that picks the best segmentation method per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0292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02920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80+ method variants exist (embedding x method x hyperparameter).
No single variant wins on all 30 videos.
The selector LEARNS which variant to use per video.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MODEL: ExtraTreesRegressor
(scikit-learn ensemble, 500 trees)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INPUTS FED TO THE SELECTOR: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4572000" cy="1143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21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Video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4389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Domain (Biology/CS/Math/Phil/Physics) — one-hot
Video length (minutes)
Sentence count
Mean cosine similarity (BGE-large)
Std of consecutive similarities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457200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0118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Training-fold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30368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For each of the 80+ candidate methods:
  Mean Pk across the 29 training videos
  (= how reliable is this method generally?)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08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OUTPUT: predicted Pk per method → pick lowest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143000"/>
            <a:ext cx="6309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1143000"/>
            <a:ext cx="630936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Leave-One-Video-Out Training (LOO-CV)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691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For each of 30 videos: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029968"/>
            <a:ext cx="8686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1735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2084831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5146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751"/>
                </a:solidFill>
              </a:rPr>
              <a:t>Train on 29 videos, predict for 1 held-out. Repeat 30 times.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886200"/>
            <a:ext cx="630936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77840" y="3886200"/>
            <a:ext cx="6309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0050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What the Selector Chose (per domain)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407408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Physics (7 videos)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Multimodal-grid (CLIP+text) for 5/7 videos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4407408"/>
            <a:ext cx="731520" cy="39319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1320" y="44622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Biggest Pk gains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846320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4901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CS (7 videos)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901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Cross-E5 conservative most reliable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4846320"/>
            <a:ext cx="731520" cy="39319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49011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Consistent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5285232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5340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Biology (6 videos)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5340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Cross-E5 + some over-switching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5285232"/>
            <a:ext cx="731520" cy="39319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1320" y="53400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5724144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5779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Philosophy (6 videos)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Selector improves Pk/WD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0" y="5724144"/>
            <a:ext cx="731520" cy="39319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61320" y="57790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6163056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Math (4 videos)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❌ FAILS — only 3 training examples per fold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6163056"/>
            <a:ext cx="731520" cy="3931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61320" y="6217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Selector hurts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Selector Results &amp;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How much did the selector improve things?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Pk ↓ (better)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WD ↓ (better)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BS ↑ (better)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F1@2 ↑ (better)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vs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116128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BGE-Divisive
(Baseline)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0.396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0.088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Reference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56816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Cross-Model
Conservative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0.371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0.376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0.036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Best Pk/WD (sig.)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40864"/>
            <a:ext cx="116128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Balanced
Selector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0.359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0.374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624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0.076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0.089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Best mean 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63240"/>
            <a:ext cx="685800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063240"/>
            <a:ext cx="685800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18211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Statistical Significance (paired Wilcoxon, α=0.05 with Holm correction)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75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vs BGE-divisive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36758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675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32504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096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vs BGE-divisive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0965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WD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53128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5171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BGE-divisive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5171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45171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73752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BGE-divisive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49377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BS + F1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9377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94376"/>
            <a:ext cx="6492240" cy="38404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3583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Cross-model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3583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Pk/WD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358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❌ NOT significant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715000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7790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Cross-model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7790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BS + F1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5779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063240"/>
            <a:ext cx="4663440" cy="35204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9520" y="31821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Final Verdict on Selector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639312"/>
            <a:ext cx="4389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The selector improves mean Pk and significantly
improves BS and F1 vs cross-model.
Pk/WD gain over cross-model alone is NOT
statistically significant.
Interpretation:
  The selector is a stronger OPERATING POINT
  experiment — not a conclusive replacement.
Leave-domain-out: Pk=0.4012 (worse than baseline)
→ NOT a universal deployment model.
→ A LOW-RESOURCE BENCHMARK operating 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to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Supervised vs Unsupervised — direct vs indirect — what metrics they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0645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7221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2691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9267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Supervised?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4737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1313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6782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358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Their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88828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5404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60874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97450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TreeSeg
(Gklezakos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0645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7221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21 (TinyRec)
+ICSI+AMI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72691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9267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
(unsupervised)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4737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1313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Pk/WD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6782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358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Pk=0.367 (TinyRec)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88828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5404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Pk=0.359 (selector)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60874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7450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5C00"/>
                </a:solidFill>
              </a:rPr>
              <a:t>⚠ INDIRECT
Diff dataset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AVLectures
(Singh 2022)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0645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7221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2350+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72691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267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Self-supervised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4737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1313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 Pk/WD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6782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53358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Outperforms
baselines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88828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5404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60874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97450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Not comparable
Diff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Freisinger 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00645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37221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34+96 lectures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72691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09267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LoRA fine-tuned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44737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81313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16782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53358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F1=67.3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88828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5404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60874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97450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Not comparable
No Pk reported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MiniSeg/YTSEG
(Retkowski 2024)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00645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37221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19,299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72691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09267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44737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81313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Pk/WD/F1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16782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3358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Pk=28.73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88828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25404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Pk=35.9 (ours)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60874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97450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INDIRECT
643x more 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Chapter-Gen
(Cao 2022)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00645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37221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9,631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72691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09267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44737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81313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AP/Recall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16782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53358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AP=43.3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88828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25404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60874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97450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Different task
Generation not seg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5176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Chapter-Llama
(Ventura 2025)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00645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37221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10k/8.1k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72691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09267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Trained LLM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44737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81313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F1/IoU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6782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53358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F1=45.3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88828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25404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60874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97450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Different task
Diff metrics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5176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TextTiling (Hearst)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00645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37221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Our data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72691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09267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44737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81313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16782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53358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0.605 (ours)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88828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625404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0.371 (cross-model)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60874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97450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873B"/>
                </a:solidFill>
              </a:rPr>
              <a:t>✅ DIRECT
Ours better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5176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C99 (Choi 2000)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00645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37221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Our data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72691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09267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244737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81313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916782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953358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0.422 (ours)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88828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25404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0.371 (cross-model)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260874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297450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873B"/>
                </a:solidFill>
              </a:rPr>
              <a:t>✅ DIRECT
Ours better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5989320"/>
            <a:ext cx="11704320" cy="65836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DIRECT comparisons (same dataset, same metric): our method beats all classical/neural baselines.
INDIRECT comparisons (different datasets): we match or approach TreeSeg on Pk, using similar scale. Large supervised systems are not comparable.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Gap Analysis: Where Is the Ceiling?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Shown to locate the bottleneck — NOT a performance claim. Read carefully.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</a:rPr>
              <a:t>WARNING: The oracle results are NOT deployable. They use ground truth at test time to pick the best boundaries/methods.
We show them ONLY to answer: 'Where exactly is the remaining gap, and what needs to be solved next?'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65836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65836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Operating Points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BGE-Divisive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706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0.388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706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7063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Our stable starting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Cross-model conservative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7355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0.371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7355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27355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Statistically significant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Balanced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7647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0.359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764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 (LOO)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764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Best mean local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7939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TreeSeg/TinyRec (indicative)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27939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0.367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2793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7939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Different dataset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823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Per-video oracle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78231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0.298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823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❌ NOT deployable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78231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Needs gold at test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852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Candidate oracle τ=2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2852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2852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❌ NOT deployable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528523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Perfect selector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148840"/>
            <a:ext cx="4754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0" y="2148840"/>
            <a:ext cx="47548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2677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What the Gap Tells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6974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Gap: deployable best (Pk=0.359) to candidate oracle (Pk=0.017)
ΔPk ≈ 0.34 — this entire gap is in SELECTION, not generation.
Proof: 96.8% recall already exists in the candidate pool.
The right boundaries are ALREADY being found —
we just cannot always pick the correct ones.
What this means for future work:
  → NOT 'build a better segmenter'
  → YES 'build a better candidate RANKER'
A supervised ranker trained on:
  - Local cosine contrast per candidate
  - Cross-model agreement score
  - Pause duration at candidate position
  - Slide-change signal (CLIP)
  ...with 50-100 labelled lectures
could plausibly close most of this gap.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Real-World Application: LecSeg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Not just research — a working tool for any YouTube lecture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What the Web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Built with Streamlit (scripts/demo.py)
Run: streamlit run scripts/demo.py
Two modes:
1. SEGMENT ANY YOUTUBE VIDEO
   Paste any YouTube URL or video ID
   → Auto-downloads transcript (yt-dlp captions)
   → Sentence split + BGE/E5/MPNet/MiniLM embed
   → Divisive segmentation
   → Llama-3.1-8B generates chapter titles
   → Exports YouTube timestamp format
2. BENCHMARK MODE (LecSeg-30)
   Evaluate any method on the 30-video benchmark
   Shows Pk/WD/BS/F1 with reference chapters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Try it: streamlit run scripts/demo.py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143000"/>
            <a:ext cx="61264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143000"/>
            <a:ext cx="61264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6187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App Pipeline (Arbitrary Video Mode)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46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1. User pastes
YouTube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465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Any lecture video;
no prior indexing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3500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41448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96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2. Transcript
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963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yt-dlp captions (fast)
Fallback: Whisper (slow)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09981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191256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3. Sentence
Splitting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246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spaCy; cache per video_id
Avoids recomputation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496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941064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95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4. Embedding
+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9959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 model in sidebar
(BGE/E5/MPNet/MiniLM)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5994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690872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745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5. LLM Titling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7457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Llama-3.1-8B (auto-starts)
Fallback: noun-phrase extraction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349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440679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49554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6.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49554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Timestamp list
YouTube format export
Semantic similarity chart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Justifying the Research Title Word-by-Word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LecSeg-30: A Reproducible Low-Resource Benchmark and Diagnostic Study for Lecture-Video Topic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LecSeg-30  ·  A Reproducible  ·  Low-Resource  ·  Benchmark  ·  and Diagnostic Study  ·  for Lecture-Video Topic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3749039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3749039" cy="438912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LecSeg-30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30 academic YouTube lecture videos
across 5 domains, 32.52 hours total.
The '30' is in the name because the
benchmark is permanently defined.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176272"/>
            <a:ext cx="37490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176272"/>
            <a:ext cx="3749039" cy="43891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All code open (src/lecseg/).
All data IDs public (YouTube URLs).
185 automated tests.
Every table has a generation script.
Any researcher can rerun.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76272"/>
            <a:ext cx="3749039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176272"/>
            <a:ext cx="3749039" cy="43891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Low-Resource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Only 30 videos (vs 10k-800k for
large supervised systems).
No GPU required at inference.
All models run on CPU.
Fully offline with Ollama.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416552"/>
            <a:ext cx="3749039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3749039" cy="43891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Fixed 30-video set with:
- Creator-provided chapter GT
- Two-level hierarchical labels
- IAA with Cohen's kappa
- 5 evaluation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4416552"/>
            <a:ext cx="3749039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4416552"/>
            <a:ext cx="3749039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399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Diagnostic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We don't just report Pk.
We show WHAT FAILS and WHY:
- Granularity mismatch finding
- Oracle gap locates bottleneck
- Domain failure analysis
- Ablation of every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416552"/>
            <a:ext cx="3749039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4416552"/>
            <a:ext cx="3749039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Lecture-Video
Topic Seg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Not general video chaptering.
Not meeting segmentation.
Specifically academic YouTube
lectures with Pk/WD evaluation.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Thesis Standards &amp; Quality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Is everything up to academic standard?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528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185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24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281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8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185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Clickable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24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281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hyperref package with hidelinks+breaklinks; all \citep{} are clickable in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528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185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In-text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24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281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38 citations across 4 chapters; all figures/tables cited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528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185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Title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624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281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Titlepage: 'LecSeg-30: A Reproducible Low-Resource Benchmark and Diagnostic Study'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185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LaTeX 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624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281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book class, 12pt, A4; TOC, LOF, LOT, bibliography (plainnat); appendices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28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8185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6 chapters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281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Intro, Literature, Methodology, Results, Conclusion, Future 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528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8185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3 appendices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624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5281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Dataset details, Hyperparameters, Extra results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528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185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15 LaTeX tables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624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5281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All \input'd from thesis/tables/; generated from 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4528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8185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7 PDF figures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1624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5281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All in thesis/figures/; referenced with \includegraphics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4528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185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Statistical tests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624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5281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Bootstrap 95% CIs + paired Wilcoxon with Holm correction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4528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185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IAA reported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1624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5281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Cohen's kappa chapter=0.535, subtopic=0.426; limitation acknowledged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4528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8185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Limitations section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1624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5281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Silver labels, corpus size, strict F1, selector domain-failure all stated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4528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8185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Threats to validity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1624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5281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Separate section in Ch5: reference validity, annotation independence, small dataset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4528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8185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GPU transcription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1624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5281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vast.ai RTX 5090 documented in Appendix B (hardware section)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4528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8185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Preprocessing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624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5281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Full pipeline: Whisper, spaCy, TransNetV2, PaddleOCR, librosa all documented in Ch3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5C00"/>
                </a:solidFill>
              </a:rPr>
              <a:t>⚠️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4528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8185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Pipeline figure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624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5281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Currently a text placeholder in Ch3 (fbox) — no actual PDF figure for pipeline diagram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What we cannot claim — and what the examiner will ask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L1: 30 videos is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618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Math domain has only 4 → selector fails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225296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61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51790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We acknowledge this. 30 matches prior low-resource work.
Bootstrap CIs quantify uncertainty. Selector limitation explicitly reported.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49424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408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L2: Silver chapter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408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YouTube chapters = creator editorial choices, not expert pedagogical labels.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304288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3408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9689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Treated as navigation metadata only. Human validation listed as future work.
Limitation stated in threats-to-validity section.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28415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328415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19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L3: Low strict 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198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Best Pk/WD method is very conservative → F1@2 = 0.024.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383279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98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675887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Pk/WD and F1 measure different things. Selector recovers F1 to 0.089.
Both reported. The tradeoff is documented in the modern-metrics section.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07408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98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L4: Selector not universal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988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Leave-domain-out: Pk=0.4012 (worse than baseline).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462272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44988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548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Explicitly acknowledged. The selector is a local benchmark operating point,
not a production deployment model. Clearly stated in Ch3 and Ch5.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11612880" cy="54864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L5: LLM refinement unverified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577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Llama-3.1-8B boundary shifting not proven to improve Pk significantly.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5541264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5778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83387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Reported as diagnostic only. Titling works offline. Not overclaimed.
Future work: 70B model or task-specific fine-tuning.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The definitive numbers from LecSeg-30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49807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498079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Pk Results Across All Methods (lower = better)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46504"/>
            <a:ext cx="5077663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823" y="17739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130552"/>
            <a:ext cx="4978908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2068" y="215798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514600"/>
            <a:ext cx="4032504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54203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90779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98648"/>
            <a:ext cx="4024274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7434" y="2926079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29183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82696"/>
            <a:ext cx="3472891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6051" y="331012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758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666744"/>
            <a:ext cx="3563416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6576" y="369417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0599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050792"/>
            <a:ext cx="3390595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3755" y="407822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4439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BGE-Divisive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434840"/>
            <a:ext cx="3193084" cy="3017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6244" y="44622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280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CLIP+Text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818888"/>
            <a:ext cx="3077870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1030" y="484632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2120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5202936"/>
            <a:ext cx="3053181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6341" y="52303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596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5586984"/>
            <a:ext cx="2954426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7586" y="561441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0524" y="1709928"/>
            <a:ext cx="13716" cy="42519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6204" y="5806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65C00"/>
                </a:solidFill>
              </a:rPr>
              <a:t>baseline
0.388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1143000"/>
            <a:ext cx="39776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1143000"/>
            <a:ext cx="39776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12618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All Metrics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5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42248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78824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92056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41863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39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91672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28247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29015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BGE-Div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42248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78824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92056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28632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0.396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41863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39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0.129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91672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28247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0.088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40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29015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Cross-Model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42248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78824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92056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28632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41863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78439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0.036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91672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28247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29015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Selector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42248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78824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92056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28632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41863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78439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0.076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91672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128247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0.089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83879" y="2834640"/>
            <a:ext cx="374903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Pk/WD: lower is better
BS/F1: higher is better
Significant improvements:
Cross-model: Pk+WD vs baseline
Selector: BS+F1 vs cross-model
N=30 videos
95% bootstrap CIs
Paired Wilcoxon+Holm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Research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LecSeg-30: A Reproducible Low-Resource Benchmark and Diagnostic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557784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7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C1: LecSeg-30 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4708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30 YouTube lectures · 5 domains · 32.52 h · 419 creator chapters · 904 subtopics
Two-level hierarchy with IAA (κ=0.54 chapter, κ=0.43 subtopic) · Public YouTube URLs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57784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435607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C2: Unified Evaluation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847088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Project-local implementations of Pk, WD, BS, tolerance-F1, H-WD
Bootstrap 95% CIs · Paired Wilcoxon+Holm · 185 automated tests · All scripts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44952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44952"/>
            <a:ext cx="557784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1546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C3: Statistically Supported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conservative: Pk=0.371 — significantly better than all baselines (p&lt;0.05)
Selector: best mean Pk=0.359, significant F1/BS improvement over cross-model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44952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44952"/>
            <a:ext cx="557784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1546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C4: Granularity Mismatch Finding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3566160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Acoustic/linguistic signals (prosody, BERTopic, perplexity, discourse) all over-segment
CLIP visual is the exception: matches chapter-level editorial granularity
Practical roadmap: add CLIP, suppress prosody for chapter-level segmentation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64024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764024"/>
            <a:ext cx="557784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737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C5: Oracle Gap Diagnosis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85232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96.8% recall in candidate pool — bottleneck is SELECTION, not generation
ΔPk≈0.34 gap is entirely in ranking. Next step: supervised boundary ranker with 50-100 lectures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764024"/>
            <a:ext cx="5577840" cy="1627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764024"/>
            <a:ext cx="557784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8737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C6: Reproducible Pipeline + Web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5285232"/>
            <a:ext cx="5394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End-to-end from YouTube URL to titled chapters · CPU-friendly · Fully offline
Streamlit web demo · vast.ai GPU transcription documented · All hyperparameters logged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Final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89888"/>
            <a:ext cx="1078992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What we proved: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Conservative cross-model scoring (Pk=0.371) is significantly better than
every classical and neural baseline on LecSeg-30 (p&lt;0.05, Wilcoxon+Holm).
The balanced selector (Pk=0.359) significantly improves BS and F1.
A systematic granularity mismatch explains why acoustic signals fail.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54096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54096"/>
            <a:ext cx="1078992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What we honestly admit: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We do not beat large supervised systems on external benchmarks.
The selector is not domain-general (Math fails with 4 training examples).
LLM boundary refinement is not proven to help Pk.
These limitations are stated explicitly and are defensible.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18304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718304"/>
            <a:ext cx="1078992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BF"/>
                </a:solidFill>
              </a:rPr>
              <a:t>What this enables: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48656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LecSeg-30 is a fixed, inspectable benchmark for future lecture-segmentation work.
The oracle gap (Pk=0.017) identifies the next concrete engineering target.
The web app makes the research immediately usable on any YouTube lecture.
All code, data, scripts are reproducible by any researcher.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5A623"/>
                </a:solidFill>
              </a:rPr>
              <a:t>LecSeg-30 does not make lecture segmentation solved. It makes it MEASURABLE and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