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914400"/>
            <a:ext cx="4023360" cy="402336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3291840" cy="329184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54864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LECSEG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A0C4F0"/>
                </a:solidFill>
              </a:rPr>
              <a:t>AI-Powered Lecture Topic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0B4E0"/>
                </a:solidFill>
              </a:rPr>
              <a:t>Hierarchical Benchmark · 30 Lectures · 5 Domains · Reproducible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90C0"/>
                </a:solidFill>
              </a:rPr>
              <a:t>Pre-Thesis Research  ·  T2520718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090C0"/>
                </a:solidFill>
              </a:rPr>
              <a:t>BRAC University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Why can't students navigate lecture videos?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035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340"/>
                </a:solidFill>
              </a:rPr>
              <a:t>😩  The Student's Nightmare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3-hour linear algebra lecture on 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21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Student needs the eigenvalue derivation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23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No chapter markers → must scrub blindly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254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Manual chapters are rare, inconsistent,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   or missing entirely for older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At scale: millions of educational videos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325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with ZERO structured navigation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23444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234440"/>
            <a:ext cx="603504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340"/>
                </a:solidFill>
              </a:rPr>
              <a:t>📊  The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920240"/>
            <a:ext cx="2560320" cy="29260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920240"/>
            <a:ext cx="3200400" cy="292608"/>
          </a:xfrm>
          <a:prstGeom prst="rect">
            <a:avLst/>
          </a:prstGeom>
          <a:solidFill>
            <a:srgbClr val="D0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95681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Coursera + edX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195681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Tens of thousands of lectures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258568"/>
            <a:ext cx="2560320" cy="29260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2258568"/>
            <a:ext cx="3200400" cy="292608"/>
          </a:xfrm>
          <a:prstGeom prst="rect">
            <a:avLst/>
          </a:prstGeom>
          <a:solidFill>
            <a:srgbClr val="D0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229514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YouTube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29514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Millions of 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596896"/>
            <a:ext cx="2560320" cy="29260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2596896"/>
            <a:ext cx="3200400" cy="292608"/>
          </a:xfrm>
          <a:prstGeom prst="rect">
            <a:avLst/>
          </a:prstGeom>
          <a:solidFill>
            <a:srgbClr val="D0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63347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MIT OpenCourseWare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63347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2,400+ courses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935224"/>
            <a:ext cx="2560320" cy="29260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2935224"/>
            <a:ext cx="3200400" cy="292608"/>
          </a:xfrm>
          <a:prstGeom prst="rect">
            <a:avLst/>
          </a:prstGeom>
          <a:solidFill>
            <a:srgbClr val="D0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97180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Avg lecture duration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9718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~50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273552"/>
            <a:ext cx="2560320" cy="29260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3273552"/>
            <a:ext cx="3200400" cy="292608"/>
          </a:xfrm>
          <a:prstGeom prst="rect">
            <a:avLst/>
          </a:prstGeom>
          <a:solidFill>
            <a:srgbClr val="D0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3101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Without chapters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3101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&gt; 80% of content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12080"/>
            <a:ext cx="11612880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218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Solution: Automatically predict chapter timestamps from the video's own 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0"/>
                </a:solidFill>
              </a:rPr>
              <a:t>No manual labelling at inference time · Works on any lecture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What was missing before LECSEG?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630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2340"/>
                </a:solidFill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3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Lecture-specific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No compact, reproducible benchmark combined authentic academic lectures
with hierarchical annotations AND Pk/WD evaluation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669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2340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46303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Two-level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Prior datasets had chapters OR subtopics — never a nested
chapter ⊂ subtopic structure with enforced nesting constraints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79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40479"/>
            <a:ext cx="566928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23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2340"/>
                </a:solidFill>
              </a:rPr>
              <a:t>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233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Honest low-resource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52627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Large systems use 10k–800k videos. No work showed what's achievable
in the 30-video regime with statistical significance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79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40479"/>
            <a:ext cx="566928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023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2340"/>
                </a:solidFill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233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Locally reproducible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52627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Supervised/LLM methods require training data or proprietary APIs.
LECSEG runs entirely offline: Whisper + sentence-transformers + Ollama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LECSEG-30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30 academic YouTube lectures · 5 domains · 32.52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029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02920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Domain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🧬 Biology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911095"/>
            <a:ext cx="822959" cy="21945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8999" y="187451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💻 Computer Sci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459736"/>
            <a:ext cx="960119" cy="219456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9" y="24231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📐 Mathematics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008376"/>
            <a:ext cx="548640" cy="21945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29718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📚 Philosophy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557016"/>
            <a:ext cx="822959" cy="21945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35204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⚛️ Physics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105656"/>
            <a:ext cx="960119" cy="21945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59" y="40690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Selection criteria: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✓  ≥ 15 min 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✓  Clean English audio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6635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✓  ≥ 4 creator YouTube chapters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406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✓  Open licence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234440"/>
            <a:ext cx="63093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1234440"/>
            <a:ext cx="630936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Key Numbers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1874519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1929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1965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lecture videos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2441448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32.52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5328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total audio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008376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063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46,525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0998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sentences (spaCy)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3575304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36301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419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66674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chapter boundaries (YouTube)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4142232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4197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904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2336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subtopic labels (LLM-assisted)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4709160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4764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κ = 0.54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800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chapter IAA (Cohen's κ)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0" y="5276088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5330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κ = 0.43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367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subtopic IAA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5843016"/>
            <a:ext cx="2011680" cy="457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5897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</a:rPr>
              <a:t>F₁ = 1.00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9344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chapter boundary 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Annotation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Two-level hierarchy: Chapters → Subtopics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Level 1 — Chapter Boundaries  (creator-provided YouTube chapters)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Taken directly from YouTube metadata → reproducible · publicly available · real navigation behavior
⚠️  Not unquestionable pedagogical truth: creators may place chapters early/late or omit fine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BF"/>
                </a:solidFill>
              </a:rPr>
              <a:t>418 chapter boundaries across 30 videos  ·  mean 14.0 per video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116128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1161288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Level 2 — Subtopic Boundaries  (LLM-assisted human review)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347472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Pass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Llama-3.1-8B (Ollama)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280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Generates draft subtopic
segmentation per chapter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114800"/>
            <a:ext cx="347472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Pass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Human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8280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Checks, corrects, and
approves each draft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114800"/>
            <a:ext cx="347472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904 subtopic 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80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Nesting enforced:
chapter ⊂ subtopic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C00"/>
                </a:solidFill>
              </a:rPr>
              <a:t>Limitation: both passes use same LLM → agreement may be inflated vs. fully independent humans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We Measure: Pk &amp; WindowDiff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The standard metrics for topic segmentation — lower is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Pk (Beeferman 1999)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HOW IT WORKS: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Slide a window of width k across the transcript.
At each position i, check:
  • Do sentences i and i+k belong to the SAME segment
    in the reference (ground truth)?
  • Does the PREDICTED segmentation agree?
If they disagree → count as an error.
Pk = errors / total window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Example (k=2 window, 8 sentences):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548640" cy="292608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4572000"/>
            <a:ext cx="548640" cy="292608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0784" y="4572000"/>
            <a:ext cx="548640" cy="292608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3936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576" y="4572000"/>
            <a:ext cx="54864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4572000"/>
            <a:ext cx="548640" cy="292608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572000"/>
            <a:ext cx="548640" cy="292608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4572000"/>
            <a:ext cx="548640" cy="2926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1104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9744" y="4572000"/>
            <a:ext cx="548640" cy="292608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4590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892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</a:rPr>
              <a:t>↑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7096" y="4892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</a:rPr>
              <a:t>↑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INTERPRETATION: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0 = perfect  ·  0.5 = random  ·  Lower is ALWAYS better
Typical good result on 30-video lecture corpus: Pk ≈ 0.35–0.40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234440"/>
            <a:ext cx="56692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234440"/>
            <a:ext cx="5669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3716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WindowDiff (Pevzner &amp; Hearst 2002)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HOW IT WORKS: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1488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Same sliding window, BUT instead of asking
'same segment or not?', it counts:
  • Number of boundaries INSIDE the window
    in the reference
  • Number of boundaries INSIDE the window
    in the prediction
WD error = windows where these counts differ
Key difference from Pk:
  → Penalises over-segmentation MORE heavily
  → Catches insertions of extra boundaries
    that Pk sometimes misses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INTERPRETATION: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86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0 = perfect  ·  Lower is ALWAYS better
WD ≥ Pk almost always. If WD &gt;&gt; Pk: system over-segments.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LECSEG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Two independent parts: unsupervised segmentation + supervised selector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132320" cy="4114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 1 — Unsupervised Segmentation (no training data needed)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234440"/>
            <a:ext cx="365760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261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 2 — Supervised Selector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1097280" cy="1554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YouTube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06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Audio track extracted
URL → yt-dlp → mp4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377440"/>
            <a:ext cx="10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1328" y="1783080"/>
            <a:ext cx="1097280" cy="1554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5376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ASR (Whisper)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2606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large-v3 on GPU
17.9× realtime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377440"/>
            <a:ext cx="10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88336" y="1783080"/>
            <a:ext cx="1097280" cy="1554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Sentence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606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spaCy sentenciser
~847 sentences/video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3904" y="2377440"/>
            <a:ext cx="10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95344" y="1783080"/>
            <a:ext cx="1097280" cy="1554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3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Text 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2606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SBERT/BGE/E5/MPNet
384–1024 dim vectors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2377440"/>
            <a:ext cx="10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02352" y="1783080"/>
            <a:ext cx="1097280" cy="1554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Boundary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2606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Cosine dissimilarity
between sentence windows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77440"/>
            <a:ext cx="10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783080"/>
            <a:ext cx="1097280" cy="1554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606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11 methods evaluated
(see next slides)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783080"/>
            <a:ext cx="3657600" cy="1554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1828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2402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Method Selector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6517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F0E8"/>
                </a:solidFill>
              </a:rPr>
              <a:t>ExtraTreesRegressor
Leave-one-video-out
Picks best method/video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520440"/>
            <a:ext cx="11612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520440"/>
            <a:ext cx="116128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657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Outputs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069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📍 Chapter timestamps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List of boundary sentence indices
→ converted to HH:MM:SS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4069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🏷️ Segment titles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Llama-3.1-8B generates
3–8 word topic names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069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📊 Hierarchy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Chapters ⊂ Subtopics
nesting enforced by construction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4069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📈 Metrics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 / WD / BS / F1
per-video + aggregate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Unsupervised Methods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We implemented and benchmarked 11 method families — no training labels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65760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89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TextTiling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53312"/>
            <a:ext cx="1097280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7" y="137160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Classical
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Lexical cohesion sliding window.
Counts shared vocabulary between blocks.
Boundary = local vocabulary minimum.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852928"/>
            <a:ext cx="3474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077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Pk=0.605 ↑ weakest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65760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389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C99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353312"/>
            <a:ext cx="1097280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7" y="137160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Classical
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Rank-transform cosine similarity matrix.
Groups coherent blocks by diagonal dominance.
More robust to vocab outliers than TextTiling.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852928"/>
            <a:ext cx="3474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9077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Pk=0.422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280160"/>
            <a:ext cx="36576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389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CosineSeg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1353312"/>
            <a:ext cx="1097280" cy="34747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25328" y="137160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Neural
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SBERT sentence vectors.
Cosine similarity drops between adjacent windows.
Boundary = local cosine valley (depth score).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2852928"/>
            <a:ext cx="3474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9077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Pk=0.490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749039"/>
            <a:ext cx="36576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858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BertSeg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822191"/>
            <a:ext cx="1097280" cy="34747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1487" y="384047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Neural
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25195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Same as CosineSeg but with larger comparison
window (w=5). Approximates SegBot inference
using pre-computed BERT embeddings.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5321807"/>
            <a:ext cx="3474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76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Pk=0.489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3749039"/>
            <a:ext cx="365760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8" y="3858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Divisive (BGE)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822191"/>
            <a:ext cx="1097280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3407" y="384047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★ Best
Baseline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425195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BGE-large-en-v1.5 embeddings (1024-dim).
Recursively splits on max cosine dissimilarity.
Stable, strong — our main comparison point.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5321807"/>
            <a:ext cx="3474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376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B"/>
                </a:solidFill>
              </a:rPr>
              <a:t>Pk=0.388 ✅ best baseline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3749039"/>
            <a:ext cx="365760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7888" y="3858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Cross-Model
Conservative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7040" y="3822191"/>
            <a:ext cx="1097280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25328" y="384047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★ Best
Global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425195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Two models (BGE + E5) independently score.
Keep only boundaries BOTH agree on.
Conservative → fewer FP, better Pk/WD.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5321807"/>
            <a:ext cx="3474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5376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B"/>
                </a:solidFill>
              </a:rPr>
              <a:t>Pk=0.371 ✅ best global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N1: Two-Stage Boundary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Separates recall (stage 1) from precision (stage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45720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45720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The Problem with Single-Pass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A single threshold must balance:
  Too HIGH → misses real boundaries (low recall)
  Too LOW  → many false positives (hurts Pk)
Per-video score distributions vary widely.
A global threshold fails on diverse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Result: imprecise boundaries, high Pk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280160"/>
            <a:ext cx="67665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280160"/>
            <a:ext cx="676656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41732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Two-Stage Solution (N1)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874519"/>
            <a:ext cx="64922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9202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STAGE 1 — Broad Pass (High Recall)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04288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Threshold: mean - 0.5 × std  (LOOSE)
→ Retains ~50% of sentence gaps as candidates
→ Almost all real boundaries are included
→ Many false positives still present (that's OK)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3832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D6ABF"/>
                </a:solidFill>
              </a:rPr>
              <a:t>↓  pass candidates to Stage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3749039"/>
            <a:ext cx="6492240" cy="1554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7947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STAGE 2 — Refinement (High Precision)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178808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Fused signal from all modalities (text + visual + prosody)
Threshold: mean + 1.2 × std  (TIGHT)
→ Keeps only strong, multi-modal evidence boundaries
→ Reduces false positives dramatically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3949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B"/>
                </a:solidFill>
              </a:rPr>
              <a:t>Result: Pk improves over single-pass CosineSeg (0.490 → part of best 0.371)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N2: Reliability-Weighted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Weight each modality by how confident its signal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The 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Different modalities have different reliability:
  • Text (BGE embeddings): sharp boundary signals
    → HIGH confidence, LOW entropy → high weight
  • Prosody (pauses/pitch): noisier, flatter signal
    → LOW confidence, HIGH entropy → low weight
  • Visual (CLIP keyframes): varies by video type
    → Medium weight for slide-based lectures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The Formula: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731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BF"/>
                </a:solidFill>
              </a:rPr>
              <a:t>wₘ = exp(−H(sₘ)) / Σ exp(−H(sₘ′))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9379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H(sₘ) = normalised Shannon entropy of modality m's boundary scores.
Low entropy (peaked distribution) → high reliability → high weight.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66928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Entropy as Confidence Proxy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303520" cy="1737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73B"/>
                </a:solidFill>
              </a:rPr>
              <a:t>✅ High Confidence Modality (Text):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67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Clear peaks at boundaries → low entropy → high weight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172968"/>
            <a:ext cx="502920" cy="73152"/>
          </a:xfrm>
          <a:prstGeom prst="rect">
            <a:avLst/>
          </a:prstGeom>
          <a:solidFill>
            <a:srgbClr val="C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14031" y="3099815"/>
            <a:ext cx="502920" cy="146304"/>
          </a:xfrm>
          <a:prstGeom prst="rect">
            <a:avLst/>
          </a:prstGeom>
          <a:solidFill>
            <a:srgbClr val="C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35823" y="2660903"/>
            <a:ext cx="502920" cy="58521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57616" y="3136391"/>
            <a:ext cx="502920" cy="109728"/>
          </a:xfrm>
          <a:prstGeom prst="rect">
            <a:avLst/>
          </a:prstGeom>
          <a:solidFill>
            <a:srgbClr val="C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408" y="3172968"/>
            <a:ext cx="502920" cy="73152"/>
          </a:xfrm>
          <a:prstGeom prst="rect">
            <a:avLst/>
          </a:prstGeom>
          <a:solidFill>
            <a:srgbClr val="C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2587751"/>
            <a:ext cx="502920" cy="65836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22992" y="3158337"/>
            <a:ext cx="502920" cy="87782"/>
          </a:xfrm>
          <a:prstGeom prst="rect">
            <a:avLst/>
          </a:prstGeom>
          <a:solidFill>
            <a:srgbClr val="C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44784" y="3114446"/>
            <a:ext cx="502920" cy="131673"/>
          </a:xfrm>
          <a:prstGeom prst="rect">
            <a:avLst/>
          </a:prstGeom>
          <a:solidFill>
            <a:srgbClr val="C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840480"/>
            <a:ext cx="5303520" cy="1737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862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C00"/>
                </a:solidFill>
              </a:rPr>
              <a:t>⚠️  Low Confidence Modality (Prosody):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Flat distribution → high entropy → auto down-weighted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873751"/>
            <a:ext cx="502920" cy="292608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4031" y="4800599"/>
            <a:ext cx="502920" cy="365760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35823" y="4837175"/>
            <a:ext cx="502920" cy="329184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57616" y="4727448"/>
            <a:ext cx="502920" cy="438912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9408" y="4888382"/>
            <a:ext cx="502920" cy="277977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4785969"/>
            <a:ext cx="502920" cy="380390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22992" y="4815230"/>
            <a:ext cx="502920" cy="351129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44784" y="4859121"/>
            <a:ext cx="502920" cy="307238"/>
          </a:xfrm>
          <a:prstGeom prst="rect">
            <a:avLst/>
          </a:prstGeom>
          <a:solidFill>
            <a:srgbClr val="E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7607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6ABF"/>
                </a:solidFill>
              </a:rPr>
              <a:t>Key finding: CLIP visual embeddings scored medium–high reliability for slide-based lectures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N3 + N4: Hierarchy &amp; LLM Titling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Structured output + human-readable chapter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N3 — Hierarchical Segmenter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Run the predictor TWICE:
  1. Fine pass → n_subtopic boundaries
  2. Coarse pass → n_chapter boundaries
Enforce nesting by construction:
  B_chapter ⊆ B_subtopic  (always guaranteed)
No joint optimisation needed — just merge sets.
Why this matters:
  • Chapters for navigation (coarse)
  • Subtopics for study (fine-grained)
  • Any chapter boundary is also a subtopic boundary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30352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Chapter:  [───────Intro────────]  [──Methods──]  [──Results──]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Subtopic: [─Intro─][─Prob─][─Setup─]  [─N1─][─N2─]  [─Res─][─Disc─]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751"/>
                </a:solidFill>
              </a:rPr>
              <a:t>Every │ chapter boundary is also a │ subtopic boundary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66928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N4 — Local LLM Refinement &amp; Titling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Uses Llama-3.1-8B via Ollama (fully local, offline)
Two functions:
1. BOUNDARY REFINEMENT (diagnostic)
   For each predicted boundary b:
   → Show LLM sentences [b-2 … b+2]
   → Ask: 'which position is a cleaner topic break?'
   → Shift boundary by ±2 sentences if better
2. SEGMENT TITLING (deployed)
   For each segment:
   → Show LLM first 5 sentences
   → Ask: 'give a 3–8 word topic title'
   → Fallback: noun-phrase extraction if LLM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235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C00"/>
                </a:solidFill>
              </a:rPr>
              <a:t>⚠️  Boundary refinement: not claimed as main Pk driver.
    Verified as diagnostic only — titles work offline.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Method Selector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Supervised meta-model: picks the best method for each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0352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What Is the Selector?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The unsupervised pipeline produces 80+ method
variants (embedding × method × hyperparameter).
For each video, a different variant may be best.
The selector learns WHICH variant to use per video.
Model: ExtraTreesRegressor (random forest variant)
Trained on (per leave-one-video-out fold):
  • Video features:
    - Domain one-hot (Biology/CS/Math/Phil/Physics)
    - Video length, sentence count
    - Mean/std of embedding similarity scores
  • Method statistics from training fold:
    - Mean Pk of each candidate method
      on the 29 training videos
Predicts: expected Pk for each method on the new video
Selects: method with lowest predicted Pk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60350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280160"/>
            <a:ext cx="603504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417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Leave-One-Video-Out Cross-Validation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920240"/>
            <a:ext cx="100584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93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920240"/>
            <a:ext cx="100584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993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93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920240"/>
            <a:ext cx="100584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93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1920240"/>
            <a:ext cx="100584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1993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3957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51"/>
                </a:solidFill>
              </a:rPr>
              <a:t>Repeat for ALL 30 videos (each is held out once)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What the selector found: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154680"/>
            <a:ext cx="56692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095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2095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Multimodal-grid variants (CLIP+text) win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584448"/>
            <a:ext cx="56692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639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639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Cross-E5 conservative is most reliable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014215"/>
            <a:ext cx="56692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069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Biology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0690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Cross-E5 variants, some over-switching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443983"/>
            <a:ext cx="56692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49884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Philosophy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49884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Selector gains — improves Pk/WD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873751"/>
            <a:ext cx="56692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9286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Math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92861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❌ Selector FAILS — only 4 training examples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55955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C00"/>
                </a:solidFill>
              </a:rPr>
              <a:t>Leave-domain-out result: Pk=0.4012 — worse than baseline
→ Selector is a LOCAL operating point, not a universal deployment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Unsupervised vs Supervised — Where LECSEG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The pipeline is mostly unsupervised; the selector adds a thin supervised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9032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80744"/>
            <a:ext cx="28117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539" y="1325880"/>
            <a:ext cx="29032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259" y="1380744"/>
            <a:ext cx="28117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LECSEG Segmentation
(N1–N4)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59" y="1325880"/>
            <a:ext cx="29032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380744"/>
            <a:ext cx="28117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LECSEG Selector
(Part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3980" y="1325880"/>
            <a:ext cx="29032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9700" y="1380744"/>
            <a:ext cx="28117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MiniSeg/Chapter-Llama
(external)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73352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71907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Requires labelled
training 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7539" y="1673352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4115" y="171907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None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673352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171907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5C00"/>
                </a:solidFill>
              </a:rPr>
              <a:t>⚠️ 29 videos (LOO)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1673352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0555" y="171907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10k–19k videos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20824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2066543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Training objective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7539" y="2020824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4115" y="2066543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2020824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2066543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Predict Pk from
video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3980" y="2020824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0555" y="2066543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Boundary F1 or
generation loss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368296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2414015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Inference needs
gold chapter 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7539" y="2368296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14115" y="2414015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5C00"/>
                </a:solidFill>
              </a:rPr>
              <a:t>⚠️ Yes (controlled eval)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59" y="2368296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17336" y="2414015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5C00"/>
                </a:solidFill>
              </a:rPr>
              <a:t>⚠️ 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3980" y="2368296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0555" y="2414015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715768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2761487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Reproducible locally
(no API / GPU farm)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7539" y="2715768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4115" y="2761487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Yes (CPU ok)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59" y="2715768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17336" y="2761487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83980" y="2715768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20555" y="2761487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063239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3108959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Evaluation metric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77539" y="3063239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14115" y="3108959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Pk / WD / BS / F1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59" y="3063239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17336" y="3108959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Pk / WD / BS / F1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83980" y="3063239"/>
            <a:ext cx="29032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20555" y="3108959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Different metrics
(IoU, CIDEr…)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410712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345643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Scale of dataset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77539" y="3410712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14115" y="345643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30 videos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59" y="3410712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17336" y="345643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30 videos (LOO)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3980" y="3410712"/>
            <a:ext cx="29032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0555" y="3456432"/>
            <a:ext cx="28300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10k–800k videos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56235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Key claim: LECSEG is a LOW-RESOURCE UNSUPERVISED benchmark, not a competitor to large supervised systems.
Its value is reproducibility, hierarchy, statistical testing, and the oracle-gap diagnosis — not external leaderboard dominance.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Related Work — Low-Resource &amp; Unsupervised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These are the closest comparable systems to LECSEG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93548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1844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800" y="1280160"/>
            <a:ext cx="193548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5519" y="1335024"/>
            <a:ext cx="1844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5280" y="1280160"/>
            <a:ext cx="193548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0999" y="1335024"/>
            <a:ext cx="1844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Supervision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280160"/>
            <a:ext cx="193548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335024"/>
            <a:ext cx="1844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6240" y="1280160"/>
            <a:ext cx="193548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960" y="1335024"/>
            <a:ext cx="1844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Key 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51720" y="1280160"/>
            <a:ext cx="193548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7440" y="1335024"/>
            <a:ext cx="1844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vs LECSEG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27631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1673351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TreeSeg
(Gklezakos 2024)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09800" y="1627631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6376" y="1673351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21 (TinyRec)
+ICSI+AMI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5280" y="1627631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1856" y="1673351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Unsupervised
divisive clustering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1627631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1673351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Text only
(overlapping blocks)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6240" y="1627631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2816" y="1673351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Pk=0.367 (TinyRec)
Pk=0.310 (ICSI)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51720" y="1627631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8296" y="1673351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Closest comparator.
Diff dataset — no shared benchmark yet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75104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2020824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Freisinger 2023
Multilingual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09800" y="1975104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6376" y="2020824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34 (Videoaula)
96 (LectureDE)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5280" y="1975104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1856" y="2020824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Unsupervised rule-based
+ LLM (multilingual)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59" y="1975104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17336" y="2020824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Text + speech pauses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16240" y="1975104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52816" y="2020824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F1=67.3 (Videoaula)
(no Pk/WD reported)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51720" y="1975104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8296" y="2020824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Different metrics;
non-English focus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322576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2368296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AVLectures
(Singh 2022)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09800" y="2322576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46376" y="2368296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2350+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5280" y="2322576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81856" y="2368296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Self-supervised
(no chapter labels)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59" y="2322576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17336" y="2368296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Audio + visual
(narration alignment)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16240" y="2322576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52816" y="2368296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Outperforms baselines
(no Pk reported)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51720" y="2322576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88296" y="2368296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Much larger scale;
no Pk/WD comparison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670048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2715768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Tuna 2015
Classroom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09800" y="2670048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46376" y="2715768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Small classroom set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45280" y="2670048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81856" y="2715768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Unsupervised
multimodal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59" y="2670048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17336" y="2715768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Video + audio + slides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6240" y="2670048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52816" y="2715768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Domain-specific
segmentation quality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51720" y="2670048"/>
            <a:ext cx="1935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88296" y="2715768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Similar setting;
pre-SBERT embeddings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017520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3063239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Chand &amp; Ogul
2021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09800" y="3017520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46376" y="3063239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Small lecture set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45280" y="3017520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1856" y="3063239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Unsupervised framework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59" y="3017520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17336" y="3063239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Lecture video
(audio + visual)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16240" y="3017520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52816" y="3063239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Domain-specific
metrics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51720" y="3017520"/>
            <a:ext cx="1935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88296" y="3063239"/>
            <a:ext cx="1862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No reproducible
benchmark or Pk/WD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6ABF"/>
                </a:solidFill>
              </a:rPr>
              <a:t>LECSEG advantage over these: explicit Pk/WD/BS evaluation · hierarchical labels · bootstrap CIs · oracle gap analysis · fully reproducible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Related Work — High-Resource Systems (Context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These are NOT direct competitors — different scale, metrics, and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322576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896" y="1280160"/>
            <a:ext cx="2322576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42615" y="13350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9472" y="1280160"/>
            <a:ext cx="2322576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3350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Supervision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2048" y="1280160"/>
            <a:ext cx="2322576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13350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Reported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64624" y="1280160"/>
            <a:ext cx="2322576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0344" y="13350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Why Not Directly Comparable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27631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1673351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MiniSeg / YTSEG
(Retkowski 2024)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6896" y="1627631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1673351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19,299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1627631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673351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Supervised
smart-chaptering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1627631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8624" y="1673351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Pk=28.7, F1=43.4
(YTSEG benchmark)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64624" y="1627631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673351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643× more videos; different benchmark;
supervised vs unsupervised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975104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2020824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Chapter-Gen
(Cao 2022)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1975104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3472" y="2020824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9,631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9472" y="1975104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2020824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Supervised
multimodal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2048" y="1975104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8624" y="2020824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AP=43.3, Recall@3s=60.1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64624" y="1975104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2020824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321× more videos; title-generation task;
AP/Recall not Pk/WD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322576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236829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VidChapters-7M
(Yang 2023)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2322576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3472" y="236829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817,000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9472" y="2322576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236829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Large-scale
pre-training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42048" y="2322576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8624" y="236829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SODA_c=11.4
(generation metric)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64624" y="2322576"/>
            <a:ext cx="2322576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236829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27,233× more videos;
generation not segmentation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670048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271576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Chapter-Llama
(Ventura 2025, CVPR)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96896" y="2670048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33472" y="271576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10k train
8.1k test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9472" y="2670048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271576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Trained long-context
LLM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2048" y="2670048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8624" y="271576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Chapter F1=45.3
(vs Vid2Seq 26.7)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64624" y="2670048"/>
            <a:ext cx="232257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271576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333× more videos; requires
long-context LLM fine-tuning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394960"/>
            <a:ext cx="11612880" cy="12344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LECSEG's positioning:  "A 30-video, fully reproducible benchmark proves that statistically supported improvements
are achievable at lecture-specific scale — and precisely locates what a future larger system needs to solve."
We do NOT claim to beat these systems. We show what's possible and what's left to do with limited resources.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We Reproduced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All 11 methods implemented from scratch in src/lecseg/ — no black-box imports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441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441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What we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441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Based on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441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55648"/>
            <a:ext cx="1161288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9280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TextTiling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2880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NLTK reference implementation + custom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BF"/>
                </a:solidFill>
              </a:rPr>
              <a:t>hearst1994multi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185 passing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6888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54203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Rank-transform cosine matrix, divisive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BF"/>
                </a:solidFill>
              </a:rPr>
              <a:t>choi2000latent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4203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Validated: Pk≈0.51 on Choi (published 0.12 — our lite reimpl)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82112"/>
            <a:ext cx="1161288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19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CosineSeg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25526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Sentence-transformer vectors + depth-score valleys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BF"/>
                </a:solidFill>
              </a:rPr>
              <a:t>koshorek2018text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25526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BGE-large: Pk=0.490 on LECSEG-30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95344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3250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KMeansSeg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968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K-means clustering on embeddings, label-transition boundaries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3250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BF"/>
                </a:solidFill>
              </a:rPr>
              <a:t>sklearn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96849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Pk=0.617 — over-segments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08576"/>
            <a:ext cx="1161288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457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BertSeg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817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Same as CosineSeg, window=5 — approximates SegBot 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457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BF"/>
                </a:solidFill>
              </a:rPr>
              <a:t>li2018segbot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68172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Pk=0.489 on LECSEG-30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21808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458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Divisive (BGE)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3949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Recursive max-cosine-dissimilarity 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458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BF"/>
                </a:solidFill>
              </a:rPr>
              <a:t>gklezakos2024_treeseg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39496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Pk=0.388 — best text-only 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0807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6ABF"/>
                </a:solidFill>
              </a:rPr>
              <a:t>All implementations in src/lecseg/  ·  185 automated unit tests  ·  validated against published baselines where possible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Best method reduces Pk by 0.0296 absolute over strong BGE baseline (p &lt; 0.05)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3302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9022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2285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8005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Pk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1268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6988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WD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0251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5971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BS 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9234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4954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F1@2 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28217" y="1325880"/>
            <a:ext cx="1658982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73937" y="1380744"/>
            <a:ext cx="15675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Sig. vs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3302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9878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Classical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2285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8861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0.605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1268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7844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0.898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0251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827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0.147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69234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5810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0.139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8217" y="1673352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4793" y="171907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Much worse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33302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9878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Classical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92285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8861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0.422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1268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7844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0.449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0251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6827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69234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05810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0.029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28217" y="2020824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64793" y="2066543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Worse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3302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9878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92285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28861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0.490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51268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87844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0.539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10251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6827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0.062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69234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5810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0.086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28217" y="2368296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64793" y="2414015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Worse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33302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69878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92285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28861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0.489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51268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87844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0.540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10251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6827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0.077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69234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05810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0.091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28217" y="2715768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64793" y="2761487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Worse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BGE-Divisive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33302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69878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★ Baseline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92285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28861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0.388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51268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87844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0.396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10251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6827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0.129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69234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05810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0.088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28217" y="3063239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64793" y="3108959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— Reference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Cross-Model (E5)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33302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69878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★ Best Global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92285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28861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0.371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51268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87844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0.376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0251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46827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0.036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69234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05810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0.024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28217" y="3410712"/>
            <a:ext cx="165898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64793" y="3456432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p&lt;0.05 Pk &amp; WD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10896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Balanced Selector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33302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69878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★ Best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592285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28861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0.359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51268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87844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0.374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10251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46827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0.076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69234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605810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0.089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28217" y="3758184"/>
            <a:ext cx="165898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64793" y="3803904"/>
            <a:ext cx="158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p&lt;0.05 BS &amp; F1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53492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Remember: Lower Pk/WD is better  ·  Higher BS/F1 is better  ·  0 = perfect  ·  0.5 = random guessing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57150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Cross-model conservative: best Pk/WD, but very conservative (low F1 — predicts fewer boundaries)
Balanced selector: best mean operating point — improves F1 while staying competitive on Pk/WD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Finding: Granularity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Why do acoustic &amp; linguistic signals fail to beat text embeddings?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The Granularity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303520" cy="5486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340"/>
                </a:solidFill>
              </a:rPr>
              <a:t>Discourse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947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Pk=0.462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47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Marks sentence-level transitions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5303520" cy="5486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340"/>
                </a:solidFill>
              </a:rPr>
              <a:t>BERTopic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Pk=0.563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Finds subtopic clusters, not chapters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5"/>
            <a:ext cx="5303520" cy="5486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340"/>
                </a:solidFill>
              </a:rPr>
              <a:t>GPT-2 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172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Pk=0.418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72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Detects sentence-level surprises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12463"/>
            <a:ext cx="5303520" cy="5486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856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340"/>
                </a:solidFill>
              </a:rPr>
              <a:t>Pause/pitch (prosody)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78561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Pk=0.417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8561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Speaker breath &amp; stress resets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25112"/>
            <a:ext cx="530352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98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340"/>
                </a:solidFill>
              </a:rPr>
              <a:t>BGE text 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3982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73B"/>
                </a:solidFill>
              </a:rPr>
              <a:t>Pk=0.388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982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Chapter-level semantic shift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530352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10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340"/>
                </a:solidFill>
              </a:rPr>
              <a:t>CLIP visual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010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73B"/>
                </a:solidFill>
              </a:rPr>
              <a:t>Pk=0.396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Slide scene changes ~ editorial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28016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280160"/>
            <a:ext cx="56692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Why?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874519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YouTube chapters = deliberate EDITORIAL choices
made by instructors at a COARSE level:
  'Introduction to Eigenvalues'
  'The Characteristic Equation'
  'Applications in Physics'
Acoustic signals detect FINE-GRAINED transitions:
  • Every pause &gt; 300ms
  • Every pitch reset
  • Every discourse connector ("So", "Now", "Next")
These happen 5–10× more often than chapter shifts.
→ They over-segment relative to the reference.
CLIP exception: slide scene changes ARE editorial
decisions (new slide = potential chapter).
→ CLIP matches chapter granularity better.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74243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BF"/>
                </a:solidFill>
              </a:rPr>
              <a:t>Practical implication: future systems should prioritise CLIP visual + text,
not acoustic or linguistic sub-sentence signals for chapter-level segmentation.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Oracle Gap Analysis — What's the Ceiling?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Shown to locate the bottleneck, NOT as a performance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029200" cy="25603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⚠️  Why We Show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NOT a result we claim to achieve.
Shown as a diagnostic: to answer
'Where exactly is the remaining gap?'
Answer: entirely in SELECTION,
not in candidate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325880"/>
            <a:ext cx="21031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59" y="13807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Operating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325880"/>
            <a:ext cx="21031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3807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Pk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325880"/>
            <a:ext cx="2103120" cy="34747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3807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Deployable?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673352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1719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BGE-Divisive (baseline)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673352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7536" y="1719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673352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5" y="1719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020824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4416" y="2066543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Cross-model conservative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020824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7536" y="2066543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020824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2066543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368296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4416" y="2414015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Balanced selector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368296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2414015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368296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5" y="2414015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Yes (LOO)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715768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4416" y="2761487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TreeSeg TinyRec (indicative)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715768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2761487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0.367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715768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5" y="2761487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873B"/>
                </a:solidFill>
              </a:rPr>
              <a:t>✅ (diff dataset)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063239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14416" y="3108959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Per-video oracle (best method known)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3063239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17536" y="3108959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0.298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63239"/>
            <a:ext cx="21031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0655" y="3108959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Needs ground truth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410712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14416" y="345643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Candidate oracle τ=2 (perfect selector)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3410712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17536" y="345643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51"/>
                </a:solidFill>
              </a:rPr>
              <a:t>0.017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3410712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0655" y="345643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</a:rPr>
              <a:t>❌ Theoretical max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023360"/>
            <a:ext cx="50292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4023360"/>
            <a:ext cx="50292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The Gap ΔPk ≈ 0.34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553712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96.8% recall already exists in the candidate pool.
That means the RIGHT boundaries are already found —
we just can't always pick the correct ones.
To close this gap:
  → Supervised boundary ranker (need ~50 labelled lectures)
  → Use CLIP + pause + OCR as ranker features
  → NOT a better segmentation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0"/>
                </a:solidFill>
              </a:rPr>
              <a:t>What we cannot claim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Corpus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4416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30 videos is small. Math domain has only 4 videos → selector fails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344168"/>
            <a:ext cx="32004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37160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→  Add 8–10 Math lectures; expand to 100+ for ranker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40280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Silver chapter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30428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YouTube chapters = creator navigation choices, NOT expert pedagogical labels.
Creators may place chapters late, skip boundaries, or be inconsistent.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304288"/>
            <a:ext cx="32004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→  Independent human annotation study (future work)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Low strict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6440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Best Pk/WD method predicts few boundaries → very low exact F1.
Approximate segment structure ≠ exact boundary hit.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264408"/>
            <a:ext cx="32004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29184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→  Boundary ranker to improve precision without hurting Pk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6052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160520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Selector is not universal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2452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Leave-domain-out Pk=0.4012 — worse than baseline.
Only reliable when related domains are in training fold.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4224528"/>
            <a:ext cx="32004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25196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→  More training data; domain-invariant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2064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120640"/>
            <a:ext cx="11612880" cy="54864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120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LLM refinement unverified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18464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Llama-3.1-8B boundary shifting not shown to improve Pk significantly.
Titling works; refinement is diagnostic only.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5184648"/>
            <a:ext cx="32004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5212079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→  Larger LLM (70B) or task-specific fine-tuning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914400"/>
            <a:ext cx="4023360" cy="402336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3291840" cy="329184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LECSEG Contributes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0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356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LECSEG-30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</a:rPr>
              <a:t>30 lectures · 5 domains · 32h · 419 chapters · 904 subtopics
Hierarchical labels with IAA · fully 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597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Rigorous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072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</a:rPr>
              <a:t>5 metrics · bootstrap 95% CIs · paired Wilcoxon tests
Statistically supported improvement: ΔPk=0.029 over BGE-divisive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Granularity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3133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</a:rPr>
              <a:t>Proven that acoustic/linguistic signals over-segment vs YouTube chapters
CLIP visual is the most promising non-text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9704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079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Oracle gap 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5546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</a:rPr>
              <a:t>96.8% recall in candidate pool — bottleneck is SELECTION not generation
Clear roadmap: supervised boundary ranker needs ~50 labelled lectures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0B4E0"/>
                </a:solidFill>
              </a:rPr>
              <a:t>LECSEG does not claim to beat large supervised systems. It turns low-resource lecture segmentation
into a MEASURABLE, REPRODUCIBLE problem with clear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