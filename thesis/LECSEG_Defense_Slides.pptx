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88952" cy="7315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68112"/>
            <a:ext cx="12188952" cy="73152"/>
          </a:xfrm>
          <a:prstGeom prst="rect">
            <a:avLst/>
          </a:prstGeom>
          <a:solidFill>
            <a:srgbClr val="A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41264"/>
            <a:ext cx="12188952" cy="1316736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LECSEG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8C8F0"/>
                </a:solidFill>
                <a:latin typeface="Calibri"/>
              </a:rPr>
              <a:t>Hierarchical Multimodal Lecture-Video Topic 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429000"/>
            <a:ext cx="5788152" cy="36576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C8F0"/>
                </a:solidFill>
                <a:latin typeface="Calibri"/>
              </a:rPr>
              <a:t>Pre-Thesis Research  |  T2520718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Advancing automatic structure discovery in educational video at low resource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Navigation Problem in Online Education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474720" cy="2468880"/>
          </a:xfrm>
          <a:prstGeom prst="rect">
            <a:avLst/>
          </a:prstGeom>
          <a:solidFill>
            <a:srgbClr val="F0F4F8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  <a:latin typeface="Calibri"/>
              </a:rPr>
              <a:t>Scale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100,000+ hours of lecture content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Most videos have NO chapter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4203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Students watch sequentially to find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26664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Cannot keyword-search unstructured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340"/>
                </a:solidFill>
                <a:latin typeface="Calibri"/>
              </a:rPr>
              <a:t>Unstructured: 2-Hour Lecture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600200"/>
            <a:ext cx="45720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1508760"/>
            <a:ext cx="73152" cy="59436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BF"/>
                </a:solidFill>
                <a:latin typeface="Calibri"/>
              </a:rPr>
              <a:t>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057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66"/>
                </a:solidFill>
                <a:latin typeface="Calibri"/>
              </a:rPr>
              <a:t>0:00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057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66"/>
                </a:solidFill>
                <a:latin typeface="Calibri"/>
              </a:rPr>
              <a:t>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57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66"/>
                </a:solidFill>
                <a:latin typeface="Calibri"/>
              </a:rPr>
              <a:t>1:00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057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66"/>
                </a:solidFill>
                <a:latin typeface="Calibri"/>
              </a:rPr>
              <a:t>1:30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574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66"/>
                </a:solidFill>
                <a:latin typeface="Calibri"/>
              </a:rPr>
              <a:t>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340"/>
                </a:solidFill>
                <a:latin typeface="Calibri"/>
              </a:rPr>
              <a:t>Structured: What Students Need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834640"/>
            <a:ext cx="45720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2834640"/>
            <a:ext cx="557784" cy="41148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2834640"/>
            <a:ext cx="786384" cy="41148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9240" y="2834640"/>
            <a:ext cx="923544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834640"/>
            <a:ext cx="603503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2834640"/>
            <a:ext cx="740664" cy="4114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80" y="2834640"/>
            <a:ext cx="740664" cy="41148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D52"/>
                </a:solidFill>
                <a:latin typeface="Calibri"/>
              </a:rPr>
              <a:t>Clear chapter structure with topic labels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1143000"/>
            <a:ext cx="3154680" cy="2468880"/>
          </a:xfrm>
          <a:prstGeom prst="rect">
            <a:avLst/>
          </a:prstGeom>
          <a:solidFill>
            <a:srgbClr val="FFEEEE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11887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Current Pain 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5727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X  No structured 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X  Cannot find topics without watching entire 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5420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X  Rewatching wastes 40-60% of study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02666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X  Accessibility barriers for non-native speakers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40480"/>
            <a:ext cx="11640312" cy="5029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Automatic topic segmentation can transform unstructured lecture video into navigable, indexed learning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Large Systems Exist But Miss the Low-Resource Lecture Setting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9456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188720"/>
            <a:ext cx="192024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Training Videos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188720"/>
            <a:ext cx="192024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188720"/>
            <a:ext cx="192024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Hierarchy?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178308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Lectures?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219456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VidChapters-7M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600200"/>
            <a:ext cx="192024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817,000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600200"/>
            <a:ext cx="192024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General video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600200"/>
            <a:ext cx="192024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600200"/>
            <a:ext cx="178308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75688"/>
            <a:ext cx="2194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MiniSeg/YTSEG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075688"/>
            <a:ext cx="19202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19,299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075688"/>
            <a:ext cx="19202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YouTube general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075688"/>
            <a:ext cx="19202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075688"/>
            <a:ext cx="17830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51176"/>
            <a:ext cx="219456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Chapter-Gen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2551176"/>
            <a:ext cx="192024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9,631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551176"/>
            <a:ext cx="192024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YouTube general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551176"/>
            <a:ext cx="192024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551176"/>
            <a:ext cx="1783080" cy="448056"/>
          </a:xfrm>
          <a:prstGeom prst="rect">
            <a:avLst/>
          </a:prstGeom>
          <a:solidFill>
            <a:srgbClr val="F0F4F8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Partial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26664"/>
            <a:ext cx="2194560" cy="448056"/>
          </a:xfrm>
          <a:prstGeom prst="rect">
            <a:avLst/>
          </a:prstGeom>
          <a:solidFill>
            <a:srgbClr val="E8F4EC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2340"/>
                </a:solidFill>
                <a:latin typeface="Calibri"/>
              </a:rPr>
              <a:t>LECSEG (this work)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3026664"/>
            <a:ext cx="1920240" cy="448056"/>
          </a:xfrm>
          <a:prstGeom prst="rect">
            <a:avLst/>
          </a:prstGeom>
          <a:solidFill>
            <a:srgbClr val="E8F4EC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2340"/>
                </a:solidFill>
                <a:latin typeface="Calibri"/>
              </a:rPr>
              <a:t>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026664"/>
            <a:ext cx="1920240" cy="448056"/>
          </a:xfrm>
          <a:prstGeom prst="rect">
            <a:avLst/>
          </a:prstGeom>
          <a:solidFill>
            <a:srgbClr val="E8F4EC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F2340"/>
                </a:solidFill>
                <a:latin typeface="Calibri"/>
              </a:rPr>
              <a:t>Academic lectures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026664"/>
            <a:ext cx="1920240" cy="448056"/>
          </a:xfrm>
          <a:prstGeom prst="rect">
            <a:avLst/>
          </a:prstGeom>
          <a:solidFill>
            <a:srgbClr val="E8F4EC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E7D52"/>
                </a:solidFill>
                <a:latin typeface="Calibri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3026664"/>
            <a:ext cx="1783080" cy="448056"/>
          </a:xfrm>
          <a:prstGeom prst="rect">
            <a:avLst/>
          </a:prstGeom>
          <a:solidFill>
            <a:srgbClr val="E8F4EC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2E7D52"/>
                </a:solidFill>
                <a:latin typeface="Calibri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57600"/>
            <a:ext cx="11640312" cy="1005840"/>
          </a:xfrm>
          <a:prstGeom prst="rect">
            <a:avLst/>
          </a:prstGeom>
          <a:solidFill>
            <a:srgbClr val="E8F0FB"/>
          </a:solidFill>
          <a:ln w="254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703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BF"/>
                </a:solidFill>
                <a:latin typeface="Calibri"/>
              </a:rPr>
              <a:t>Research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0507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  <a:latin typeface="Calibri"/>
              </a:rPr>
              <a:t>No reproducible, low-resource, lecture-specific benchmark with hierarchical annotations existed. LECSEG fills this gap with rigorous two-level annotation, IAA validation, and open evaluation protocols.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75488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Dataset Scale (number of training videos)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074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LECSEG: 30  |  Chapter-Gen: 9,631  |  MiniSeg: 19,299  |  VidChapters-7M: 817,000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394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D52"/>
                </a:solidFill>
                <a:latin typeface="Calibri"/>
              </a:rPr>
              <a:t>LECSEG intentionally targets the low-data regime where pretrained giant models do not apply.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LECSEG-30: A Curated Academic Lecture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88920" cy="109728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43000"/>
            <a:ext cx="2788920" cy="109728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8872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32.52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Total Duration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278892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8872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783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Chapter Boundaries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143000"/>
            <a:ext cx="2788920" cy="10972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18872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7830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Subtopic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  <a:latin typeface="Calibri"/>
              </a:rPr>
              <a:t>Domain Distribution (# Videos)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2788920"/>
            <a:ext cx="3086100" cy="34747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788920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Biology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540" y="27889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3227832"/>
            <a:ext cx="3600450" cy="34747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227832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4890" y="32278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3666744"/>
            <a:ext cx="20574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666744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Mathematics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6667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4105656"/>
            <a:ext cx="3086100" cy="347472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105656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Philosophy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540" y="41056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4544568"/>
            <a:ext cx="360045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54456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Physics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34890" y="45445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2423160"/>
            <a:ext cx="630936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A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24688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  <a:latin typeface="Calibri"/>
              </a:rPr>
              <a:t>Benchmark Characteristics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83464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Avg. video length: 65.0 minutes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323697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Avg. chapters per video: 14.0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63931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Avg. subtopics per chapter: 2.16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404164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Sources: MIT OCW, Khan Academy, University lectures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443984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GT: Creator YouTube chapters (validated)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84632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Subtopics: LLM-assisted + human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24865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IAA: kappa=0.535 chapters / kappa=0.426 subtopics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172200"/>
            <a:ext cx="11640312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Creator-provided YouTube chapters as reference ground truth + human-reviewed LLM-assisted subtopic annotations.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Two-Level Hierarchical Annotation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  <a:latin typeface="Calibri"/>
              </a:rPr>
              <a:t>Hierarchical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669280" cy="59436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LEVEL 1  -  Chapters  (Coarse)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1143000" cy="54864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4028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194560"/>
            <a:ext cx="187452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24028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Core Theory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194560"/>
            <a:ext cx="1600200" cy="548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2402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194560"/>
            <a:ext cx="86868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4028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16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F2340"/>
                </a:solidFill>
                <a:latin typeface="Calibri"/>
              </a:rPr>
              <a:t>B_chapter  subset of  B_subtopic  (nesting enforced by construction)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5669280" cy="5029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127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LEVEL 2  -  Subtopics  (Fine-Grained)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57600"/>
            <a:ext cx="557784" cy="45720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657600"/>
            <a:ext cx="557784" cy="457200"/>
          </a:xfrm>
          <a:prstGeom prst="rect">
            <a:avLst/>
          </a:prstGeom>
          <a:solidFill>
            <a:srgbClr val="3AA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63040" y="3657600"/>
            <a:ext cx="877824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657600"/>
            <a:ext cx="512063" cy="457200"/>
          </a:xfrm>
          <a:prstGeom prst="rect">
            <a:avLst/>
          </a:prstGeom>
          <a:solidFill>
            <a:srgbClr val="E0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3657600"/>
            <a:ext cx="420624" cy="457200"/>
          </a:xfrm>
          <a:prstGeom prst="rect">
            <a:avLst/>
          </a:prstGeom>
          <a:solidFill>
            <a:srgbClr val="E0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657600"/>
            <a:ext cx="786384" cy="4572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657600"/>
            <a:ext cx="786384" cy="457200"/>
          </a:xfrm>
          <a:prstGeom prst="rect">
            <a:avLst/>
          </a:prstGeom>
          <a:solidFill>
            <a:srgbClr val="2A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3657600"/>
            <a:ext cx="877824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160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  <a:latin typeface="Calibri"/>
              </a:rPr>
              <a:t>Every chapter boundary is also a subtopic boundary.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097280"/>
            <a:ext cx="5577840" cy="2331720"/>
          </a:xfrm>
          <a:prstGeom prst="rect">
            <a:avLst/>
          </a:prstGeom>
          <a:solidFill>
            <a:srgbClr val="F0F4F8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143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  <a:latin typeface="Calibri"/>
              </a:rPr>
              <a:t>Inter-Annotator Agreement (IAA)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536192"/>
            <a:ext cx="53492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572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52"/>
                </a:solidFill>
                <a:latin typeface="Calibri"/>
              </a:rPr>
              <a:t>Chapter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572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  <a:latin typeface="Calibri"/>
              </a:rPr>
              <a:t>kappa = 0.5351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9385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  <a:latin typeface="Calibri"/>
              </a:rPr>
              <a:t>Moderate-Substantial Agreement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404872"/>
            <a:ext cx="53492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24414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Subtopic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441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2340"/>
                </a:solidFill>
                <a:latin typeface="Calibri"/>
              </a:rPr>
              <a:t>kappa = 0.4257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8072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  <a:latin typeface="Calibri"/>
              </a:rPr>
              <a:t>Moderate Agreement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566160"/>
            <a:ext cx="5577840" cy="2514600"/>
          </a:xfrm>
          <a:prstGeom prst="rect">
            <a:avLst/>
          </a:prstGeom>
          <a:solidFill>
            <a:srgbClr val="E8F0FB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11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  <a:latin typeface="Calibri"/>
              </a:rPr>
              <a:t>Annotation Process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977639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1. LLM draft (Ollama llama3.1:8b) generates candidates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379976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2. Human annotator reviews and corrects boundaries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78231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3. Second annotator independently labels 10 videos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18464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4. IAA computed with tolerance +/-1 sentence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586983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5. Nesting constraint enforced algorithmically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End-to-End Pipeline: From YouTube URL to Chapter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691640" cy="11887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Video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YouTube URL
or local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508760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2340"/>
                </a:solidFill>
                <a:latin typeface="Calibr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188720"/>
            <a:ext cx="1691640" cy="1188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12344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Whisper ASR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6642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faster-whisper
large-v3 (GPU)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508760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2340"/>
                </a:solidFill>
                <a:latin typeface="Calibri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188720"/>
            <a:ext cx="1691640" cy="11887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2344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Sentence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6642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spaCy
sentenciser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1508760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2340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188720"/>
            <a:ext cx="1691640" cy="118872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2344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6642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BGE / E5
SBERT / MPNet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508760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2340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188720"/>
            <a:ext cx="169164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12344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Boundary 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642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N1 Two-Stage
N2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508760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2340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188720"/>
            <a:ext cx="169164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23444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 Titles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6642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Llama-3.1-8B
Ollama (local)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542032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  <a:latin typeface="Calibri"/>
              </a:rPr>
              <a:t>Novel Contributions: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07792"/>
            <a:ext cx="2788920" cy="91440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9260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2918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Two-Stage Boundary Predictor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907792"/>
            <a:ext cx="2788920" cy="91440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29260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2918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Reliability-Weighted Fusion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907792"/>
            <a:ext cx="278892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9260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2918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Hierarchical Segmenter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2907792"/>
            <a:ext cx="278892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29260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2918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Local LLM Refinement &amp; Titling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977639"/>
            <a:ext cx="11640312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023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  <a:latin typeface="Calibri"/>
              </a:rPr>
              <a:t>Output Example: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389120"/>
            <a:ext cx="2788920" cy="2743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389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0:00 - 12:34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68172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5566"/>
                </a:solidFill>
                <a:latin typeface="Calibri"/>
              </a:rPr>
              <a:t>Introduction to Linear Algebra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4389120"/>
            <a:ext cx="2788920" cy="27432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4389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12:34 - 31:18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468172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5566"/>
                </a:solidFill>
                <a:latin typeface="Calibri"/>
              </a:rPr>
              <a:t>Matrix Operations &amp; Properties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389120"/>
            <a:ext cx="27889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4389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31:18 - 58:02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68172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5566"/>
                </a:solidFill>
                <a:latin typeface="Calibri"/>
              </a:rPr>
              <a:t>Eigenvalues &amp; Eigenvectors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4389120"/>
            <a:ext cx="2788920" cy="2743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0" y="438912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58:02 - 1:12:44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68172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5566"/>
                </a:solidFill>
                <a:latin typeface="Calibri"/>
              </a:rPr>
              <a:t>Applications in PCA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Four Novel Technical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76072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760720" cy="47548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978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1978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Two-Stage Boundary 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73352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Stage 1 (Broad): Cosine drop scan across full lecture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75688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Generates ~3x too many candidates initially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478024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Stage 2 (Refine): Re-scores using local context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80360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Suppresses false positives in dense transition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282696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Motivation: direct top-K selection misses clustered transitions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43000"/>
            <a:ext cx="576072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5760720" cy="47548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1978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19786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Reliability-Weighted 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73352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Each modality assigned weight w = 1 / H(p_m)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75688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H(p_m) = entropy of boundary score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78024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Low-entropy (confident) signals receive higher weight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Combines text, visual, prosody, LLM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82696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Degrades gracefully when a modality is unavailable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576072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931920"/>
            <a:ext cx="576072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98678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86783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Hierarchical Segmenter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462272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Outputs two boundary sets: B_chapter subset B_subtopic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864608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Chapter boundaries selected first (coarser threshold)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266944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Subtopics fill within chapters (finer threshold)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669280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Nesting enforced by construction, not post-hoc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6071616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Supports navigation at two granularities simultaneously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931920"/>
            <a:ext cx="576072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931920"/>
            <a:ext cx="576072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398678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986783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Local LLM Refinement &amp; Titling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462272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Llama-3.1-8B via Ollama (fully local, no API cost)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64608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Input: boundary +/- 3 sentences 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66944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Output: adjusted boundary + chapter title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669280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Optionally merges near-duplicate adjacent segments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071616"/>
            <a:ext cx="5532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  Runs in ~2-5 min on CPU for a 1-hour lecture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Main Results: Significant Improvement Over All Baselines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45566"/>
                </a:solidFill>
                <a:latin typeface="Calibri"/>
              </a:rPr>
              <a:t>Pk Score (lower is better). All improvements p &lt; 0.01 (Wilcoxon signed-rank test).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77724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6882106" cy="475488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2646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TextTiling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2546" y="1444752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0"/>
                </a:solidFill>
                <a:latin typeface="Calibri"/>
              </a:rPr>
              <a:t>0.4870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956816"/>
            <a:ext cx="77724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956816"/>
            <a:ext cx="6656000" cy="475488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01168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C99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6440" y="2029968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0"/>
                </a:solidFill>
                <a:latin typeface="Calibri"/>
              </a:rPr>
              <a:t>0.4710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542032"/>
            <a:ext cx="77724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542032"/>
            <a:ext cx="5488727" cy="47548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59689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BGE Divisive (base)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9167" y="261518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0"/>
                </a:solidFill>
                <a:latin typeface="Calibri"/>
              </a:rPr>
              <a:t>0.3884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127248"/>
            <a:ext cx="77724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127248"/>
            <a:ext cx="5247076" cy="47548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18211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Cross-Model (global)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7516" y="3200400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0"/>
                </a:solidFill>
                <a:latin typeface="Calibri"/>
              </a:rPr>
              <a:t>0.3713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8724" y="3200400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A8A"/>
                </a:solidFill>
                <a:latin typeface="Calibri"/>
              </a:rPr>
              <a:t>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712464"/>
            <a:ext cx="77724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712464"/>
            <a:ext cx="5070431" cy="47548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76732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F2340"/>
                </a:solidFill>
                <a:latin typeface="Calibri"/>
              </a:rPr>
              <a:t>Selector (best overall)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0871" y="3785616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0.3588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2079" y="3785616"/>
            <a:ext cx="640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52"/>
                </a:solidFill>
                <a:latin typeface="Calibri"/>
              </a:rPr>
              <a:t>BEST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4297680"/>
            <a:ext cx="77724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4297680"/>
            <a:ext cx="518631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35254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45566"/>
                </a:solidFill>
                <a:latin typeface="Calibri"/>
              </a:rPr>
              <a:t>TreeSeg ref (TinyRec)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6750" y="4370832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340"/>
                </a:solidFill>
                <a:latin typeface="Calibri"/>
              </a:rPr>
              <a:t>0.3670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2742" y="1371600"/>
            <a:ext cx="36576" cy="34015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303520"/>
            <a:ext cx="11640312" cy="914400"/>
          </a:xfrm>
          <a:prstGeom prst="rect">
            <a:avLst/>
          </a:prstGeom>
          <a:solidFill>
            <a:srgbClr val="E8F4EC"/>
          </a:solidFill>
          <a:ln w="254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52"/>
                </a:solidFill>
                <a:latin typeface="Calibri"/>
              </a:rPr>
              <a:t>Key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Selector achieves Pk=0.3588, reducing error by 26% vs TextTiling and 7.6% vs BGE Divisive baseline. Significant on all 5 domains (p&lt;0.01). TreeSeg comparison is indicative only (different dataset).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Method Selector: Adaptive Per-Video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  <a:latin typeface="Calibri"/>
              </a:rPr>
              <a:t>Selector Choices (30 Videos)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554480"/>
            <a:ext cx="1792224" cy="5029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  <a:latin typeface="Calibri"/>
              </a:rPr>
              <a:t>cross-E5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544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5566"/>
                </a:solidFill>
                <a:latin typeface="Calibri"/>
              </a:rPr>
              <a:t>14 (47%)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30552"/>
            <a:ext cx="1536192" cy="50292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2199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  <a:latin typeface="Calibri"/>
              </a:rPr>
              <a:t>multimodal-grid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2219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5566"/>
                </a:solidFill>
                <a:latin typeface="Calibri"/>
              </a:rPr>
              <a:t>12 (40%)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706624"/>
            <a:ext cx="38404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98064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  <a:latin typeface="Calibri"/>
              </a:rPr>
              <a:t>cross-rank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27980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5566"/>
                </a:solidFill>
                <a:latin typeface="Calibri"/>
              </a:rPr>
              <a:t>3 (10%)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282696"/>
            <a:ext cx="128016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37413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66"/>
                </a:solidFill>
                <a:latin typeface="Calibri"/>
              </a:rPr>
              <a:t>divisive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33741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5566"/>
                </a:solidFill>
                <a:latin typeface="Calibri"/>
              </a:rPr>
              <a:t>1 (3%)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5303520" cy="804672"/>
          </a:xfrm>
          <a:prstGeom prst="rect">
            <a:avLst/>
          </a:prstGeom>
          <a:solidFill>
            <a:srgbClr val="E8F0FB"/>
          </a:solidFill>
          <a:ln w="190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40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BF"/>
                </a:solidFill>
                <a:latin typeface="Calibri"/>
              </a:rPr>
              <a:t>Key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13308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No single method dominates - video-level selection captures the configuration space more fully.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097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  <a:latin typeface="Calibri"/>
              </a:rPr>
              <a:t>Domain Performance: Selector vs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1508760"/>
            <a:ext cx="137160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508760"/>
            <a:ext cx="118872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Baseline Pk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508760"/>
            <a:ext cx="118872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Selector Pk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508760"/>
            <a:ext cx="64008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1508760"/>
            <a:ext cx="160020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1920240"/>
            <a:ext cx="13716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Biology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1920240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0.398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1920240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0.364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920240"/>
            <a:ext cx="64008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+0.034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1920240"/>
            <a:ext cx="16002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E7D52"/>
                </a:solidFill>
                <a:latin typeface="Calibri"/>
              </a:rPr>
              <a:t>Improved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395728"/>
            <a:ext cx="13716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2395728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0.402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395728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0.371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395728"/>
            <a:ext cx="64008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+0.031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395728"/>
            <a:ext cx="16002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E7D52"/>
                </a:solidFill>
                <a:latin typeface="Calibri"/>
              </a:rPr>
              <a:t>Improved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871216"/>
            <a:ext cx="1371600" cy="438912"/>
          </a:xfrm>
          <a:prstGeom prst="rect">
            <a:avLst/>
          </a:prstGeom>
          <a:solidFill>
            <a:srgbClr val="FFEEEE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Mathematics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871216"/>
            <a:ext cx="1188720" cy="438912"/>
          </a:xfrm>
          <a:prstGeom prst="rect">
            <a:avLst/>
          </a:prstGeom>
          <a:solidFill>
            <a:srgbClr val="FFEEEE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0.441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2871216"/>
            <a:ext cx="1188720" cy="438912"/>
          </a:xfrm>
          <a:prstGeom prst="rect">
            <a:avLst/>
          </a:prstGeom>
          <a:solidFill>
            <a:srgbClr val="FFEEEE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0.453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84080" y="2871216"/>
            <a:ext cx="640080" cy="438912"/>
          </a:xfrm>
          <a:prstGeom prst="rect">
            <a:avLst/>
          </a:prstGeom>
          <a:solidFill>
            <a:srgbClr val="FFEEEE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-0.012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871216"/>
            <a:ext cx="1600200" cy="438912"/>
          </a:xfrm>
          <a:prstGeom prst="rect">
            <a:avLst/>
          </a:prstGeom>
          <a:solidFill>
            <a:srgbClr val="FFEEEE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C0392B"/>
                </a:solidFill>
                <a:latin typeface="Calibri"/>
              </a:rPr>
              <a:t>Worse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3346704"/>
            <a:ext cx="13716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Philosophy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3346704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0.376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3346704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0.351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3346704"/>
            <a:ext cx="64008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+0.025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3346704"/>
            <a:ext cx="16002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E7D52"/>
                </a:solidFill>
                <a:latin typeface="Calibri"/>
              </a:rPr>
              <a:t>Improved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3822191"/>
            <a:ext cx="13716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445566"/>
                </a:solidFill>
                <a:latin typeface="Calibri"/>
              </a:rPr>
              <a:t>Physics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3822191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0.389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3822191"/>
            <a:ext cx="118872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0.361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3822191"/>
            <a:ext cx="64008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+0.028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3822191"/>
            <a:ext cx="1600200" cy="438912"/>
          </a:xfrm>
          <a:prstGeom prst="rect">
            <a:avLst/>
          </a:prstGeom>
          <a:solidFill>
            <a:srgbClr val="E8F4EC"/>
          </a:solidFill>
          <a:ln w="63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2E7D52"/>
                </a:solidFill>
                <a:latin typeface="Calibri"/>
              </a:rPr>
              <a:t>Improved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4434840"/>
            <a:ext cx="6400800" cy="9144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60" y="4480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Mathematics: The Failure Case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60" y="4782312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  <a:latin typeface="Calibri"/>
              </a:rPr>
              <a:t>Only 4 training videos - insufficient selector training signal. Math lectures have long derivation blocks with minimal lexical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Hard Problem: Boundary Selection, Not Candidate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  <a:latin typeface="Calibri"/>
              </a:rPr>
              <a:t>The Oracle Gap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554480"/>
            <a:ext cx="6392753" cy="493776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2340"/>
                </a:solidFill>
                <a:latin typeface="Calibri"/>
              </a:rPr>
              <a:t>BGE-Divisive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6225" y="1645920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BF"/>
                </a:solidFill>
                <a:latin typeface="Calibri"/>
              </a:rPr>
              <a:t>0.3884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139696"/>
            <a:ext cx="6111300" cy="493776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3113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2340"/>
                </a:solidFill>
                <a:latin typeface="Calibri"/>
              </a:rPr>
              <a:t>Cross-Model (global)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4772" y="223113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A8A"/>
                </a:solidFill>
                <a:latin typeface="Calibri"/>
              </a:rPr>
              <a:t>0.3713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724912"/>
            <a:ext cx="5905560" cy="493776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81635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F2340"/>
                </a:solidFill>
                <a:latin typeface="Calibri"/>
              </a:rPr>
              <a:t>Selector (achieved)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9032" y="2816352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52"/>
                </a:solidFill>
                <a:latin typeface="Calibri"/>
              </a:rPr>
              <a:t>0.3588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310128"/>
            <a:ext cx="4904841" cy="4937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40156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340"/>
                </a:solidFill>
                <a:latin typeface="Calibri"/>
              </a:rPr>
              <a:t>Per-Video Oracle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8313" y="3401568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0.2980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895344"/>
            <a:ext cx="283098" cy="4937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986783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340"/>
                </a:solidFill>
                <a:latin typeface="Calibri"/>
              </a:rPr>
              <a:t>Candidate 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570" y="3986783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0.0172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4858" y="3511296"/>
            <a:ext cx="45720" cy="969264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26298" y="360273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Delta = 0.341
Achievable by perfect selection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097280"/>
            <a:ext cx="5212080" cy="5212080"/>
          </a:xfrm>
          <a:prstGeom prst="rect">
            <a:avLst/>
          </a:prstGeom>
          <a:solidFill>
            <a:srgbClr val="F0F4F8"/>
          </a:solidFill>
          <a:ln w="19050"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143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  <a:latin typeface="Calibri"/>
              </a:rPr>
              <a:t>Implications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60020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16367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  <a:latin typeface="Calibri"/>
              </a:rPr>
              <a:t>Candidates are plentiful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19842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Cosine-drop pass surfaces true boundaries in ~80% of cases.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269748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27340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  <a:latin typeface="Calibri"/>
              </a:rPr>
              <a:t>Ranking is the bottleneck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0815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Oracle gap of 0.341 Pk shows massive room for better selection.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79476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38313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  <a:latin typeface="Calibri"/>
              </a:rPr>
              <a:t>Future work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17880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A learned boundary ranker could close most of this gap.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89204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2592" y="49286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  <a:latin typeface="Calibri"/>
              </a:rPr>
              <a:t>Candidate oracle near-perfect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527608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Pk=0.0172 confirms generation is solved - scoring is the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Qualitative Error Analysis: Four Recurring 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71500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715000" cy="45720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978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97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Dense Transition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673352"/>
            <a:ext cx="55138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When a lecture contains many rapid sub-topic changes within a chapter, the cosine similarity gap scores are uniformly depressed. No single boundary stands out, causing systematic false negatives.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743200"/>
            <a:ext cx="5568696" cy="36576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807208"/>
            <a:ext cx="5513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  <a:latin typeface="Calibri"/>
              </a:rPr>
              <a:t>Mitigation: Adaptive local thresholding; contrast normalization per window.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71500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5715000" cy="45720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1978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197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Long Homogeneous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673352"/>
            <a:ext cx="55138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Lectures with sustained derivation or proof blocks produce near-flat embedding trajectories. The model finds weak local contrast and either over-segments or misses the coarse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2743200"/>
            <a:ext cx="5568696" cy="36576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807208"/>
            <a:ext cx="5513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  <a:latin typeface="Calibri"/>
              </a:rPr>
              <a:t>Mitigation: Integrate slide-change or OCR signals for visual anchoring.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571500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57150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80390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Granularity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279392"/>
            <a:ext cx="55138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Acoustic and linguistic signals detect sub-chapter micro-transitions (new equation, new example), which do not correspond to YouTube chapter boundaries (editorial, higher-level). This elevates false-positive rate.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349240"/>
            <a:ext cx="5568696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413248"/>
            <a:ext cx="5513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  <a:latin typeface="Calibri"/>
              </a:rPr>
              <a:t>Mitigation: Two-threshold hierarchy; train on chapter-level only.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49039"/>
            <a:ext cx="571500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749039"/>
            <a:ext cx="57150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803903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80390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Conservative Threshold Bias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279392"/>
            <a:ext cx="55138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The selector favors conservative configurations to minimize Pk. This yields high precision but low recall: approximately 40% of true boundaries are missed on average.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5349240"/>
            <a:ext cx="556869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5413248"/>
            <a:ext cx="5513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  <a:latin typeface="Calibri"/>
              </a:rPr>
              <a:t>Mitigation: Recall-weighted loss; evaluate with WD in addition to Pk.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Multimodal Signal Audit: What Works and What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486400" cy="5212080"/>
          </a:xfrm>
          <a:prstGeom prst="rect">
            <a:avLst/>
          </a:prstGeom>
          <a:solidFill>
            <a:srgbClr val="E8F5EE"/>
          </a:solidFill>
          <a:ln w="254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00" cy="47548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Signals That Help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64208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00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52"/>
                </a:solidFill>
                <a:latin typeface="Calibri"/>
              </a:rPr>
              <a:t>BGE-M3 / E5-large text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Pk ~0.39 standalone. Semantic drift across chapters well-captured.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32888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946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52"/>
                </a:solidFill>
                <a:latin typeface="Calibri"/>
              </a:rPr>
              <a:t>CLIP visual features (fused)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9864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Adds orthogonal signal. Pk=0.3740 fused vs 0.3884 text-only.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01568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381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52"/>
                </a:solidFill>
                <a:latin typeface="Calibri"/>
              </a:rPr>
              <a:t>Cross-model agreement voting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67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Boundaries confirmed by 2+ models have high precision (+3.7% Pk).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70248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068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52"/>
                </a:solidFill>
                <a:latin typeface="Calibri"/>
              </a:rPr>
              <a:t>Two-stage N1 refinement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360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Reduces FP cluster artifacts. 8% improvement on dense lectures.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38928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52"/>
                </a:solidFill>
                <a:latin typeface="Calibri"/>
              </a:rPr>
              <a:t>N3 Hierarchical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04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Multi-granularity output without independent segmentation overhead.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097280"/>
            <a:ext cx="5897880" cy="5212080"/>
          </a:xfrm>
          <a:prstGeom prst="rect">
            <a:avLst/>
          </a:prstGeom>
          <a:solidFill>
            <a:srgbClr val="FFEEEE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097280"/>
            <a:ext cx="589788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143000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Signals That Hurt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64208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70078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Prosody features (pause + pitch)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29968"/>
            <a:ext cx="5532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Pk=0.4174 standalone. Detects linguistic micro-transitions, not editorial chapters.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532888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56946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BERTopic clustering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98648"/>
            <a:ext cx="5532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Pk=0.5632. Topic clusters too coarse for precise boundary placement.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401568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43814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GPT-2 perplexity 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767328"/>
            <a:ext cx="5532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Pk=0.4182. Language model surprise detects sentence-level novelty only.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270248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30682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Naive early fusion (sum weights)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636008"/>
            <a:ext cx="5532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Pk=0.4011. Unweighted fusion dilutes strong signals with noisy modalities.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5138928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17550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Fixed-K segmentation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504688"/>
            <a:ext cx="5532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Assuming K=GT_K collapses performance. K prediction is non-trivial.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Limitations and Threats to Validity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969264"/>
          </a:xfrm>
          <a:prstGeom prst="rect">
            <a:avLst/>
          </a:prstGeom>
          <a:solidFill>
            <a:srgbClr val="F0F4F8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340"/>
                </a:solidFill>
                <a:latin typeface="Calibri"/>
              </a:rPr>
              <a:t>Small benchmark (N=30)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30 videos limits statistical power for domain-level analyses. Confidence intervals are wide; some findings may not replicate at scale. Expanding to 50-100 is the primary mitigation.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31136"/>
            <a:ext cx="11640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340"/>
                </a:solidFill>
                <a:latin typeface="Calibri"/>
              </a:rPr>
              <a:t>TreeSeg comparison is indicative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TreeSeg evaluated on its own dataset. No head-to-head on identical data. The 0.336 vs 0.359 gap should not be over-interpreted.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73552"/>
            <a:ext cx="11640312" cy="969264"/>
          </a:xfrm>
          <a:prstGeom prst="rect">
            <a:avLst/>
          </a:prstGeom>
          <a:solidFill>
            <a:srgbClr val="F0F4F8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10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340"/>
                </a:solidFill>
                <a:latin typeface="Calibri"/>
              </a:rPr>
              <a:t>GT label noise in YouTube chapters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758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Creator-provided timestamps contain occasional errors. Human review catches ~90% but residual noise remains.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15968"/>
            <a:ext cx="116403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525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340"/>
                </a:solidFill>
                <a:latin typeface="Calibri"/>
              </a:rPr>
              <a:t>Single modality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1830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Text embeddings dominate best configurations. Visual, prosody, and LLM signals have limited marginal contribution in current fusion.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58383"/>
            <a:ext cx="11640312" cy="969264"/>
          </a:xfrm>
          <a:prstGeom prst="rect">
            <a:avLst/>
          </a:prstGeom>
          <a:solidFill>
            <a:srgbClr val="F0F4F8"/>
          </a:solidFill>
          <a:ln w="1270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39495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340"/>
                </a:solidFill>
                <a:latin typeface="Calibri"/>
              </a:rPr>
              <a:t>Selector overfitting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Selector trained on 30 videos with 5-fold CV. With 6 test videos per fold, variance is high. CV estimates are optimistic by ~2% Pk.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Future Work: Clear Path to Stronger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71500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2D6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715000" cy="47548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9786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&gt;1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197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Learned Boundary Ranker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9164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Address the oracle gap (Delta=0.341 Pk) directly.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3055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Train pairwise ranker: (candidate, context) -&gt; boundary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6946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Contrastive learning with hard negatives from near-misses.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008376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Expected: Pk ~0.25-0.30 with 100 training videos.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571500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715000" cy="47548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19786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&gt;2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197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Dataset Expansion to 50-100 Videos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Wider domain coverage: STEM, Humanities, Professional.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3055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Crowdsourced annotation with consensus protocol.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6946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Enables reliable domain-level selector training.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08376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Target: statistical power for domain x method interaction.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571500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57150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803903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&gt;3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0390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Prioritise CLIP Visual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297679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Current CLIP improves Pk by ~1.4% - promising but shallow.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73659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Fine-tune CLIP on lecture slide transition pairs.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175503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Joint text+visual embeddings for boundary scoring.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614415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OCR slide text as high-precision anchor signal.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5715000" cy="242316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571500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3803903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&gt;4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0390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Same-Dataset TreeSeg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97679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Implement TreeSeg pipeline on LECSEG-30 transcripts.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736592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True head-to-head comparison on identical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75503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Establishes whether the academic-lecture gap is real.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614415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  <a:latin typeface="Calibri"/>
              </a:rPr>
              <a:t>- Outcome informs whether specialized architecture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LECSEG: A Rigorous Low-Resource Lecture Segmentation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C8F0"/>
                </a:solidFill>
                <a:latin typeface="Calibri"/>
              </a:rPr>
              <a:t>LECSEG  |  Pre-Thesis Defense  |  2026  |  T2520718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840480" cy="34747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Open 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709928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83080"/>
            <a:ext cx="362102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30 academic lectures | two-level hierarchy | reproducible eval protocol | open-source code and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840480" cy="347472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Best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09928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783080"/>
            <a:ext cx="362102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Pk = 0.3588 (selector) | Pk = 0.3713 (global) | Significant vs all baselines (p &lt; 0.01) | 26% improvement over TextTiling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840480" cy="3474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1709928"/>
            <a:ext cx="3566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783080"/>
            <a:ext cx="362102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Boundary selection is the bottleneck, not candidate generation. Oracle gap Delta=0.341 defines the future research agenda: learned ranking will unlock large gains.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46320"/>
            <a:ext cx="11640312" cy="9144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91947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8C8F0"/>
                </a:solidFill>
                <a:latin typeface="Calibri"/>
              </a:rPr>
              <a:t>"The value of LECSEG is making a genuinely difficult low-resource setting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230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8C8F0"/>
                </a:solidFill>
                <a:latin typeface="Calibri"/>
              </a:rPr>
              <a:t>measurable, reproducible, and comparable."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870448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C8F0"/>
                </a:solidFill>
                <a:latin typeface="Calibri"/>
              </a:rPr>
              <a:t>T2520718  |  Pre-Thesis Research  |  2026  |  LECSEG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