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5486400"/>
            <a:ext cx="1463040" cy="146304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6858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LecSeg-30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C4F0"/>
                </a:solidFill>
              </a:rPr>
              <a:t>A Reproducible Low-Resource Benchmark and Diagnostic Study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95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80B4E0"/>
                </a:solidFill>
              </a:rPr>
              <a:t>for Lecture-Video Topic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8F0"/>
                </a:solidFill>
              </a:rPr>
              <a:t>Ismam Khan  ·  Fahmida Afrin Moon  ·  Shahriar Islam Rafi  ·  Alimool Razi  ·  Sadia Alam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844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B4E0"/>
                </a:solidFill>
              </a:rPr>
              <a:t>Supervisor: Mr. Annajiat Alim Rasel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REPRODUCIBLE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All code, data, scripts public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90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LOW-RESOURCE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0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Only 30 videos — no GPU farm needed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30 lectures, 5 domains, 419 chapters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62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DIAGNOSTIC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62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What works, what fails, and why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5520" y="4160520"/>
            <a:ext cx="210312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4206240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A623"/>
                </a:solidFill>
              </a:rPr>
              <a:t>LECTURE-VIDEO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4553712"/>
            <a:ext cx="1965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Academic YouTube content specifically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217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090C0"/>
                </a:solidFill>
              </a:rPr>
              <a:t>BRAC University · Dept. of CSE ·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This Talk Covers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15-minute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1508760" cy="20116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Problem
&amp;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Why lecture navigation is broken;
what was missing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66544" y="1234440"/>
            <a:ext cx="1508760" cy="2011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2264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Dataset
&amp; Setup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2264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How we built LecSeg-30;
GPU transcription on vast.ai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328" y="1234440"/>
            <a:ext cx="1508760" cy="201168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Methods
Tried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All 11 approaches:
what each does and why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68112" y="1234440"/>
            <a:ext cx="1508760" cy="2011680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98464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13832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Two
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13832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Granularity mismatch
+ oracle-gap bottleneck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68896" y="1234440"/>
            <a:ext cx="1508760" cy="20116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14616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The
Selector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Supervised meta-model:
what we fed it, what it chose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95944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69680" y="1234440"/>
            <a:ext cx="1508760" cy="20116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400032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Comparison
to Prior 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Supervised vs unsupervised;
direct &amp; indirect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96728" y="1965960"/>
            <a:ext cx="2011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70464" y="1234440"/>
            <a:ext cx="1508760" cy="201168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00816" y="129844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16184" y="1755648"/>
            <a:ext cx="1417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Scope
&amp; Verdict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16184" y="2286000"/>
            <a:ext cx="14173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D8F0"/>
                </a:solidFill>
              </a:rPr>
              <a:t>What LecSeg shows;
final answer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3520440"/>
            <a:ext cx="1143000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" y="3520440"/>
            <a:ext cx="11430000" cy="640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365760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340"/>
                </a:solidFill>
              </a:rPr>
              <a:t>Why This Research Matters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14800"/>
            <a:ext cx="26517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Students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Cannot navigate 3-hour lectures
without manual chapter markers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4114800"/>
            <a:ext cx="26517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7472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Educators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7472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Creating chapter markers manually
is expensive and inconsistent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114800"/>
            <a:ext cx="26517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59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Scale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59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Millions of YouTube lectures
have ZERO structured navigation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052560" y="4114800"/>
            <a:ext cx="2651760" cy="228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0" y="4187952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Research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0" y="457200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No compact lecture benchmark
with Pk/WD + hierarchy + stats existed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Is a Topic Boundary?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Three distinct constructs — conflating them explains most method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6858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The word 'topic' conceals a three-way ambiguity. LecSeg-30 is calibrated to the third notion.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3749039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3749039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3749039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9568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Discourse Transitions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50592"/>
            <a:ext cx="35661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Change in rhetorical / argumentative function:
shift from definition → example, or theorem → proof.
Detected by: pause duration, pitch contour, discourse markers
(words like 'however', 'next', 'therefore')
Granularity: FINE — occur dozens of times within a single chapter.
Problem: prosody and discourse-marker signals fire here.
They are NOT wrong — they are accurate at the WRONG level.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6355080"/>
            <a:ext cx="3749039" cy="2743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37336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FINE-GRAINED
discourse level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0248" y="1920240"/>
            <a:ext cx="3749039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0248" y="1920240"/>
            <a:ext cx="3749039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920240"/>
            <a:ext cx="3749039" cy="45720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61688" y="19568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Semantic Shifts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61688" y="2450592"/>
            <a:ext cx="35661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Point where distributional similarity between adjacent
sentence windows drops sharply in embedding space.
Detected by: dense sentence transformer cosine dissimilarity
(BGE-large, E5-large, MPNet, MiniLM)
Granularity: MEDIUM — roughly paragraph-to-paragraph.
Sits between discourse transitions and chapter changes.
This is what our text-embedding baselines detect.
Better than lexical methods; still coarser calibration needed.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48" y="6355080"/>
            <a:ext cx="3749039" cy="27432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61688" y="637336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MEDIUM-GRAINED
paragraph level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66176" y="1920240"/>
            <a:ext cx="3749039" cy="4709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66176" y="1920240"/>
            <a:ext cx="3749039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66176" y="1920240"/>
            <a:ext cx="3749039" cy="457200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19568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Editorial Chapter Boundaries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450592"/>
            <a:ext cx="356616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Timestamps placed deliberately by the video creator to
divide the recording into labelled navigational units.
Source in LecSeg-30: YouTube chapter metadata
(creator-supplied, publicly verifiable)
Granularity: COARSE — 4-20 per video, mean ~14 per hour.
Reflect deliberate decisions, not just linguistic signals.
LecSeg-30 benchmark is calibrated to THIS notion.
Pk/WD scores measure how well systems match editorial intent.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66176" y="6355080"/>
            <a:ext cx="3749039" cy="274320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6373368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COARSE-GRAINED
editorial level  ← LecSeg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656832"/>
            <a:ext cx="1161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751"/>
                </a:solidFill>
              </a:rPr>
              <a:t>Practical implication: a signal that correctly identifies every rhetorical transition will produce far more boundaries than creator chapters. This is NOT noise — it is a systematic granularity mismatch. The central result of this thesis follows directly from this distinction.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We Built LecSeg-30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Data collection, GPU transcription, annotation — step by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1389888" cy="1691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YouTube
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5 domains;
140+ candidate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1848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1143000"/>
            <a:ext cx="1389888" cy="169164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Quality
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Duration ≥15 min;
≥4 chapters;
English audio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063240" y="1143000"/>
            <a:ext cx="1389888" cy="16916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30 Videos
Selected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32.52 h total;
419 creator chapters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1143000"/>
            <a:ext cx="1389888" cy="16916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8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Audio
Extraction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yt-dlp;
ffmpeg mp4→wav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7044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97880" y="1143000"/>
            <a:ext cx="1389888" cy="16916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vast.ai
GPU Rental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RTX 5090;
~$0.67/hr;
shutdown after 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1143000"/>
            <a:ext cx="1389888" cy="169164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Whisper
Transcription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large-v3;
17.9x realtime;
46,525 sentences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32520" y="1143000"/>
            <a:ext cx="1389888" cy="16916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544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LLM Draft
Annotation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Llama-3.1-8B
(Ollama local);
subtopic drafts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8" y="1783080"/>
            <a:ext cx="54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0D8E0"/>
                </a:solidFill>
              </a:rPr>
              <a:t>→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1143000"/>
            <a:ext cx="1389888" cy="1691640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52760" y="118872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95560" y="1536192"/>
            <a:ext cx="12984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Human
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95560" y="2029968"/>
            <a:ext cx="12984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D8F0"/>
                </a:solidFill>
              </a:rPr>
              <a:t>Streamlit tool;
correct + approve
each boundary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3017520"/>
            <a:ext cx="4114800" cy="21031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8600" y="3017520"/>
            <a:ext cx="411480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31546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Why vast.ai?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547872"/>
            <a:ext cx="3840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Whisper large-v3 requires 16+ GB VRAM.
Local hardware insufficient for 30+ hour corpus.
Solution: rent RTX 5090 on vast.ai (~$0.67/hr).
Total cost: ~$3-4 for all 30 videos.
Instance destroyed immediately after download
to stop billing.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0" y="3017520"/>
            <a:ext cx="3840480" cy="2103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72000" y="3017520"/>
            <a:ext cx="384048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09160" y="3154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Dataset Numbers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09160" y="3566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     30  lecture videos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09160" y="39136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32.52 h  total audio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09160" y="42611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 46,525  sentences (spaCy)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09160" y="460857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    419  YouTube chapter boundaries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09160" y="49560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       904  reviewed subtopic labels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595360" y="3017520"/>
            <a:ext cx="338328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95360" y="3017520"/>
            <a:ext cx="33832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32520" y="315468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5 Domains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732520" y="3566160"/>
            <a:ext cx="1959428" cy="25603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50808" y="3593591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Biology (6)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732520" y="3877056"/>
            <a:ext cx="2286000" cy="25603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750808" y="3904488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Computer Science (7)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732520" y="4187952"/>
            <a:ext cx="1306285" cy="25603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50808" y="4215384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Mathematics (4)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732520" y="4498848"/>
            <a:ext cx="1959428" cy="25603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50808" y="4526280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Philosophy (6)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32520" y="4809744"/>
            <a:ext cx="2286000" cy="25603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750808" y="4837176"/>
            <a:ext cx="2194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Physics (7)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 Preprocessing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From raw video to sentence-level feature vectors — every tool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2743200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527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1. Video
Download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70992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5564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yt-dlp
Output: mp4 file
+ metadata 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953512"/>
            <a:ext cx="2560320" cy="47548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99008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Audio + video
saved locally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148840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1430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43000"/>
            <a:ext cx="2743200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12527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2. Audio
Extraction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170992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175564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ffmpeg
Format: 16kHz WAV
Mono 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2953512"/>
            <a:ext cx="2560320" cy="47548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299008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Raw waveform
for ASR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148840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1430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143000"/>
            <a:ext cx="274320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12527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3. ASR
Transcription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70992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75564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faster-whisper
Model: large-v3 (GPU)
VAD pre-filtering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2953512"/>
            <a:ext cx="2560320" cy="47548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99008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Whisper segments
with timestamps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33688" y="2148840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0" y="1143000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0" y="1143000"/>
            <a:ext cx="274320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25272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4. Sentence
Splitting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170992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81160" y="175564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spaCy en_core_web_sm
Merge &lt;3-token segments
Proportional timestamps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2953512"/>
            <a:ext cx="2560320" cy="47548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1160" y="2990088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N=847±512 sentences
per video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3749039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3749039"/>
            <a:ext cx="2743200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858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5. Text
Embedding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431596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436168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Models: BGE-large, E5-large,
MPNet, MiniLM (CPU ok)
Output: (N,D) float32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559552"/>
            <a:ext cx="2560320" cy="47548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596127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Sentence vectors
for boundary scoring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90088" y="4754879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3749039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0" y="3749039"/>
            <a:ext cx="274320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91840" y="3858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6. Shot
Detection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91840" y="431596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436168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TransNetV2
25fps boundary probs
Threshold: 0.5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5559552"/>
            <a:ext cx="2560320" cy="47548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37560" y="5596127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Visual scene
change signals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61888" y="4754879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3749039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172200" y="3749039"/>
            <a:ext cx="274320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3858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7. Slide
OCR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63640" y="431596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436168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Tool: PaddleOCR
Sample: 0.5 fps keyframes
Deduplicate ±3-sent window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63640" y="5559552"/>
            <a:ext cx="2560320" cy="47548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5596127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Slide text
per sentence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933688" y="4754879"/>
            <a:ext cx="2194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D6ABF"/>
                </a:solidFill>
              </a:rPr>
              <a:t>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44000" y="3749039"/>
            <a:ext cx="274320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0" y="3749039"/>
            <a:ext cx="2743200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35440" y="3858768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8. Prosody
Features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35440" y="4315968"/>
            <a:ext cx="2560320" cy="11887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4361688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Pause duration: Whisper gaps≥300ms
Pitch (F0): PYIN via librosa
Z-scored per video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35440" y="5559552"/>
            <a:ext cx="2560320" cy="47548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81160" y="5596127"/>
            <a:ext cx="2468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 scalar features
per sentence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Annotation: Two-Level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Chapter boundaries (creator-provided) + Subtopics (LLM-assisted human review)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LEVEL 1: Chapter Boundaries (Ground Truth)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1124712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74751"/>
                </a:solidFill>
              </a:rPr>
              <a:t>Source: YouTube chapter metadata created by the video author
Advantages: reproducible, publicly verifiable, reflects real viewer navigation behaviour
Limitation: editorial choices — treated as navigation metadata, not a pedagogical gold standard. Creator chapters may be placed early for visual tidiness or late because the shift only becomes apparent retrospectively.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090672"/>
            <a:ext cx="11612880" cy="2670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090672"/>
            <a:ext cx="1161288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954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LEVEL 2: Subtopic Boundaries (Human Annotation + Independent IAA)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39312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850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Chapter
boundaries fixed
from YouTube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79392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Shown to annotator
as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437083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24912" y="3639312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16352" y="36850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Annotator 1
(Human)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4279392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Reads transcript;
marks subtopic
boundaries per chapter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37083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92624" y="3639312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36850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Annotator 2
(Human, independent)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4279392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Same task;
no access to
Annotator 1 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437083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60336" y="3639312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1775" y="36850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IAA
Measurement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5" y="4279392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Cohen's κ at
zero tolerance;
κ=0.4257 subtopic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0304" y="4370832"/>
            <a:ext cx="25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968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28048" y="3639312"/>
            <a:ext cx="2011680" cy="17830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9488" y="36850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Final Labels
904 subtopics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4279392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Stored in
data/gt_hier/
30 videos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897880"/>
            <a:ext cx="11612880" cy="7498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943600"/>
            <a:ext cx="11247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A623"/>
                </a:solidFill>
              </a:rPr>
              <a:t>IAA: chapter κ=0.535 (inflated — both annotators observe the same YouTube metadata, nothing to disagree on); subtopic κ=0.426 = moderate human agreement on a genuinely subjective discourse-segmentation task.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Evaluation Metrics: Pk &amp; WindowDiff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The standard for topic segmentation — used since 1999, still current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692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692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Pk  (Beeferman et al., 1999)  —  lower is better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ALGORITHM: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1. Compute k = floor(N / 2K)  where N=sentences, K=reference boundaries
2. Slide a window of width k across ALL sentence pairs (i, i+k)
3. For each pair: check if reference says 'same segment'
4. Check if prediction agrees
5. Count disagreements ÷ total pairs = Pk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VISUAL EXAMPLE  (k=3, 10 sentences, boundary at S4 and S7):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12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2704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3858768"/>
            <a:ext cx="43891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3288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3580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3858768"/>
            <a:ext cx="438912" cy="3200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872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4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4164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4456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80" y="3858768"/>
            <a:ext cx="438912" cy="32004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47488" y="3895344"/>
            <a:ext cx="3291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20624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9688"/>
                </a:solidFill>
              </a:rPr>
              <a:t>     ↑ bnd            ↑ bnd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251960"/>
            <a:ext cx="1508760" cy="22860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279392"/>
            <a:ext cx="1417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window (k=3)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5720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INTERPRETATION: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846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  0.0      = Perfect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  0.35-0.40 = Good for 30-video lecture corpus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394959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5C00"/>
                </a:solidFill>
              </a:rPr>
              <a:t>  0.5      = Random baseline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669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  1.0      = Worst possible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1143000"/>
            <a:ext cx="56692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1143000"/>
            <a:ext cx="56692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WindowDiff  (Pevzner &amp; Hearst, 2002)  —  lower is better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171907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KEY DIFFERENCE FROM Pk: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01168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Instead of asking 'same segment yes/no?',
WindowDiff counts BOUNDARIES INSIDE each window:
  Error = |count_in_reference - count_in_prediction|
This catches OVER-SEGMENTATION that Pk sometimes misses.
If your system places 3 boundaries where reference has 1,
WD penalises all 3 insertions; Pk might only see 1 error.
WD ≥ Pk almost always.
If WD &gt;&gt; Pk: your system is over-segmenting.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8463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WHY WE USE BOTH (and not F1):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38928"/>
            <a:ext cx="5394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Pk/WD: window-based — near-miss boundaries are not fully penalised.
For a student navigating a lecture, a boundary two sentences early
is not a failure. Exact-match F1 would penalise it as severely as
a completely missing boundary — misrepresenting navigation quality.
F1 and BS are secondary diagnostic figures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Everything We Tried: 11 Method Families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Full experimental landscape — classical, neural, integrated components, supervised probes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9464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10328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46904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How it works (1 line)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1192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87768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92056" y="1115568"/>
            <a:ext cx="2340864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28632" y="11612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176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TextTiling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9464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06040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Classical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10328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Vocab overlap sliding window; boundary = local vocab minimum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51192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87768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0.605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92056" y="14813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8632" y="15270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Worst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C99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9464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06040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Classical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10328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46904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Rank-transform cosine matrix; diagonal block clustering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51192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87768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0.422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592056" y="184708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28632" y="189280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Weak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CosineSeg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9464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06040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Neural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10328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46904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SBERT/BGE vectors; cosine drop depth-score valleys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51192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87768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592056" y="221284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28632" y="22585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Weak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KMeansSeg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69464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06040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Neural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10328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46904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K-means cluster embeddings; label-change = boundary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51192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87768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0.617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592056" y="257860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28632" y="26243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Over-segs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65176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BertSeg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569464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06040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Neural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10328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46904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Like CosineSeg, larger window (w=5); approximates SegBot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251192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87768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0.489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592056" y="294436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28632" y="2990087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2828"/>
                </a:solidFill>
              </a:rPr>
              <a:t>❌ Weak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28600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65176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BGE Divisive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569464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606040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Unsupervised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910328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946904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Recursive max-cosine-dissimilarity split (TreeSeg-style)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51192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287768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0.388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592056" y="331012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628632" y="33558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 Best baseline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76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TwoStage+Prosody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569464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606040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N1+N2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910328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46904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Two-stage predictor fused with pause/pitch signals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251192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287768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0.433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92056" y="367588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628632" y="372160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5C00"/>
                </a:solidFill>
              </a:rPr>
              <a:t>⚠ F1 up, Pk worse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8600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5176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Hierarchical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569464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606040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N1+N3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910328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46904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Two-stage + nested chapter/subtopic output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251192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287768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0.412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592056" y="404164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628632" y="408736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65C00"/>
                </a:solidFill>
              </a:rPr>
              <a:t>⚠ Useful structure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28600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65176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Cross-Model (E5)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69464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06040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N2 cross-model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10328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946904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BGE+E5 both score; keep only agreed boundaries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251192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287768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0.371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92056" y="440740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628632" y="445312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 Best Pk/WD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28600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65176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CLIP+Text fusion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9464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606040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N2+visual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910328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946904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Entropy-weighted text+visual boundary scoring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251192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287768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9592056" y="4773168"/>
            <a:ext cx="234086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9628632" y="481888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 Near best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8600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65176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Balanced Selector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569464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06040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Supervised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910328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946904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ExtraTrees picks best method per video (LOO-CV)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51192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87768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0.359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592056" y="5138928"/>
            <a:ext cx="2340864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628632" y="5184648"/>
            <a:ext cx="22677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 Best mean Pk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28600" y="6199632"/>
            <a:ext cx="11704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Pk closer to 0 = better. BGE-Divisive (0.388) is the reference baseline. N1-N4 are integrated pipeline components, not independent novel algorithms.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the Core Methods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Under the hood: from sentence vectors to boundary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3749039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61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BGE Divisive
(Best Baseline)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1. Embed all N sentences with BAAI/bge-large-en-v1.5 (1024-dim)
2. Build cosine dissimilarity matrix between all pairs
3. Recursively split: find position of maximum dissimilarity
4. Each split creates two segments; repeat until n_segments reached
5. Segment boundaries = split positions
Why it works: BGE captures long-range semantic shift;
recursive splitting naturally finds the biggest topic jumps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14300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59" y="1143000"/>
            <a:ext cx="3749039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399" y="1261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Cross-Model Conservative
(Best Global)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399" y="1801368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1. Run BGE-large independently: produces boundary set B1
2. Run E5-large independently: produces boundary set B2
3. Keep ONLY boundaries where both models agree: B* = B1 ∩ B2
4. Apply minimum-length filter (min 11 sentences/segment)
Why it works: Reduces false positives dramatically.
If only one model sees a boundary, it's probably noise.
Conservative = fewer boundaries, better Pk/WD.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43000"/>
            <a:ext cx="37490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43000"/>
            <a:ext cx="3749039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261872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CLIP Visual Fusion
(Promising Signal)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801368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1. Extract video keyframes at 1 fps
2. Embed each frame with CLIP ViT-B/32 (512-dim)
3. Compute cosine dissimilarity between consecutive frames
4. This gives a 'visual boundary score' per sentence
5. Fuse with text score via entropy weighting (N2)
Why it partially works: Slide transitions ARE editorial decisions
at the same granularity as chapter boundaries.
Alone: Pk=0.396. Fused with text: Pk=0.374.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Integrated Pipeline Components (N1–N4)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Engineering adaptations that enable diagnostic analysis — not claimed as independent novel algorithms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59436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5C00"/>
                </a:solidFill>
              </a:rPr>
              <a:t>These four components enable the system to run and the ablation to be comprehensive. Entropy-weighted fusion (N2) is the most distinctive — not previously applied to lecture-segmentation modality weighting.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57150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571500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0299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N1: Two-Stage Boundary Predictor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993392"/>
            <a:ext cx="914400" cy="34747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2011680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Engineering adaptation
of cascade filtering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32304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Broad pass: threshold mean − 0.5σ → HIGH RECALL
(~50% of positions pass; many false positives accepted)
Refinement pass: threshold mean + 1.2σ → HIGH PRECISION
(only strong cross-signal evidence survives)
Engineering value: decouples recall from precision.
Standard cascade pattern; adapted for lecture transcripts.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6207" y="1920240"/>
            <a:ext cx="57150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7" y="1920240"/>
            <a:ext cx="5715000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7" y="20299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N2: Entropy-Weighted Fusion  ★ most distinctive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45367" y="1993392"/>
            <a:ext cx="914400" cy="34747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2011680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Novel application
to this task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7" y="2432304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H(m) = normalised Shannon entropy of modality m scores
w(m) = exp(-H(m)) / Σ exp(-H(m'))
fused = Σ w(m) × normalise(scores(m))
Intuition: a flat (high-entropy) signal contributes less.
Prosody auto-down-weighted; text auto-prioritised.
Not previously applied to lecture segmentation modality
weighting — our most distinctive technical contribution.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251960"/>
            <a:ext cx="57150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251960"/>
            <a:ext cx="571500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43616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N3: Hierarchical Nesting Enforcer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83480" y="4325112"/>
            <a:ext cx="914400" cy="34747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10912" y="4343400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Engineering adaptation
of constraint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764024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Enforces: B_chapter ⊆ B_subtopic
(every chapter boundary is also a subtopic boundary)
Algorithm: generate candidate subtopics independently;
snap nearest subtopic to each chapter boundary;
verify nesting constraint is satisfied.
Engineering value: enables two-level evaluation.
Standard constraint-enforcement pattern.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6207" y="4251960"/>
            <a:ext cx="57150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6207" y="4251960"/>
            <a:ext cx="5715000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7" y="436168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N4: Local LLM Titling (Ollama)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45367" y="4325112"/>
            <a:ext cx="914400" cy="34747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0" y="4343400"/>
            <a:ext cx="868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Engineering integration
of open-weight LLM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7" y="4764024"/>
            <a:ext cx="54864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Input: sentence span for each predicted segment
Model: Llama-3.1-8B GGUF Q4 (runs fully local)
Output: 3-8 word descriptive chapter title
Boundary refinement tested but does NOT improve Pk/WD.
Titling works and is practically useful for the web app.
Reproducibility: no external API; works fully offline.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Worked &amp; What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Every approach tested with Pk result and verdict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43000"/>
            <a:ext cx="71323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43000"/>
            <a:ext cx="713232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Pk Results (lower = better; 0=perfect, 0.5=random)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72821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TextTiling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719072"/>
            <a:ext cx="4681024" cy="3108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12744" y="1755648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0.605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15798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KMeansSeg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2148840"/>
            <a:ext cx="4773871" cy="3108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05591" y="2185416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2587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CosineSeg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578608"/>
            <a:ext cx="3791243" cy="3108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2963" y="261518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30175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BertSeg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0" y="3008375"/>
            <a:ext cx="3783505" cy="310896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5225" y="3044951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44728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438144"/>
            <a:ext cx="3265111" cy="31089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96831" y="347472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87705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TwoStage+Prosody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0" y="3867911"/>
            <a:ext cx="3350220" cy="31089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81940" y="3904487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306824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Hierarchical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4297680"/>
            <a:ext cx="3187739" cy="310896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19459" y="4334256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73659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BGE-Divisive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4727448"/>
            <a:ext cx="3002045" cy="31089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33765" y="4764024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0.388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78901" y="4608576"/>
            <a:ext cx="18288" cy="534924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5166359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CLIP+Text Fusion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5157216"/>
            <a:ext cx="2893724" cy="31089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5444" y="5193792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0.374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5596128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 (E5)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5586984"/>
            <a:ext cx="2870512" cy="31089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02232" y="5623560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0.371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02589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Balanced Selector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6016751"/>
            <a:ext cx="2777665" cy="310896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109385" y="6053327"/>
            <a:ext cx="502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0.359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632764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51"/>
                </a:solidFill>
              </a:rPr>
              <a:t>← baseline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89520" y="1143000"/>
            <a:ext cx="43891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589520" y="1143000"/>
            <a:ext cx="438912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12618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Why Methods Failed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80960" y="1719072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0" y="177393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TextTiling
KMeansSeg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46920" y="1773936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No dense embeddings.
Vocab overlap too sparse
for technical lectures.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80960" y="2706624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772400" y="276148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Prosody signals
(Pk=0.417)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6920" y="2761488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Pauses/pitch detect FINE
transitions (discourse level).
Granularity mismatch.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80960" y="3694176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374903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BERTopic
(Pk=0.563)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46920" y="3749039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Topic model finds subtopics,
not chapter-level editorial
decisions.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4681728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0" y="473659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LLM zero-shot
3 videos (Pk=0.406)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46920" y="473659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Over-segments. High recall
but poor precision without
fine-tuning.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80960" y="5669280"/>
            <a:ext cx="420624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72400" y="572414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Supervised BERT-wiki
(Pk=0.493)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46920" y="572414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Out-of-domain. Wikipedia
text ≠ spoken lecture
transcripts.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Central Scientific Finding: Granularity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This single result explains every acoustic/linguistic failure and directly shapes future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9144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A623"/>
                </a:solidFill>
              </a:rPr>
              <a:t>FINDING: Every acoustic/linguistic signal tested produced WORSE Pk than text embeddings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727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8F0"/>
                </a:solidFill>
              </a:rPr>
              <a:t>Root cause: these signals detect discourse-level transitions — far finer than the editorial chapter decisions YouTube chapters represent.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777240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777240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Signal vs Pk (lower = better):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70048"/>
            <a:ext cx="4356060" cy="3383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24912"/>
            <a:ext cx="42646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BERTopic topic shifts: Pk=0.563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7268" y="2724912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Subtopic-level clusters → too fine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99815"/>
            <a:ext cx="3574600" cy="33832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54679"/>
            <a:ext cx="34831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Discourse markers: Pk=0.462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95808" y="3154679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Sentence-level connectives → too fine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9584"/>
            <a:ext cx="3234162" cy="33832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584448"/>
            <a:ext cx="314272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GPT-2 perplexity: Pk=0.418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5370" y="3584448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Sentence-level surprise → too fine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59352"/>
            <a:ext cx="3226425" cy="33832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14215"/>
            <a:ext cx="313498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Pause/pitch (prosody): Pk=0.417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7633" y="4014215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Speaker breath resets → too fine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3002045" cy="33832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443983"/>
            <a:ext cx="291060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BGE text embedding: Pk=0.388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3253" y="4443983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Paragraph semantic shift → right level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18888"/>
            <a:ext cx="3063943" cy="33832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873751"/>
            <a:ext cx="2972503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CLIP visual (solo): Pk=0.396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5151" y="4873751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Slide transitions = editorial decisions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48656"/>
            <a:ext cx="2893724" cy="33832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303520"/>
            <a:ext cx="2802284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CLIP + text fusion: Pk=0.374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14932" y="5303520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Best non-text signal combination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678424"/>
            <a:ext cx="2870512" cy="33832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733288"/>
            <a:ext cx="2779072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Cross-model (best): Pk=0.371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91720" y="5733288"/>
            <a:ext cx="2743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Conservative selection wins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176272"/>
            <a:ext cx="3749039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2176272"/>
            <a:ext cx="3749039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228600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Why CLIP Is The Exception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670048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YouTube chapters = deliberate
editor choices at CHAPTER level:
  'Introduction to Eigenvalues'
  'Characteristic Equation'
  'Physics Applications'
Acoustic signals fire at EVERY:
  pause, pitch reset, discourse marker
  (×5-10 more often than chapters)
Slide transitions in lectures ARE
editorial chapter-level decisions.
CLIP sees the same editorial intent
as the creator.
Practical roadmap:
  ADD: CLIP visual fusion
  SUPPRESS: prosody, BERTopic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Formal Error Taxonomy: Five Failure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Systematic classification of how and why predictions deviate from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5486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Error types are not just a diagnostic — they determine which future signals will help. Type E (granularity mismatch) is the most important because it is systematic across all acoustic signals.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10512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810512"/>
            <a:ext cx="457200" cy="8686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" y="2011680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8653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Omission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3113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51"/>
                </a:solidFill>
              </a:rPr>
              <a:t>A reference boundary that the system completely misses.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1865376"/>
            <a:ext cx="6858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Insufficient cosine contrast at that position.
The two chapters may share domain vocabulary, making the
embedding transition gradual rather than sharp.
Fix: more sensitive detection threshold — but at cost of precision.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6960" y="1901952"/>
            <a:ext cx="1828800" cy="685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201168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Under-prediction
of boundaries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43200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" y="2743200"/>
            <a:ext cx="457200" cy="86868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2944368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279806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Displacement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51"/>
                </a:solidFill>
              </a:rPr>
              <a:t>A boundary predicted within the tolerance window but not at the exact sentence.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2798064"/>
            <a:ext cx="6858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The embedding transition is real but peaks slightly early/late.
Usually a 1-3 sentence offset — acceptable for navigation.
Pk/WD tolerate this; exact-match F1 penalises it heavily.
This is why F1 appears low even when navigation quality is good.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2834640"/>
            <a:ext cx="1828800" cy="6858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2944368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Off-by-few-sentences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75887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3675887"/>
            <a:ext cx="457200" cy="8686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752" y="3877055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3730751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Over-segmentation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096511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51"/>
                </a:solidFill>
              </a:rPr>
              <a:t>A predicted boundary with no matching reference boundary.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3730751"/>
            <a:ext cx="6858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The most common cause: a signal fires at a within-chapter
rhetorical transition (definition → example) rather than
a true chapter change. Cross-model conservative scoring
reduces this by requiring both models to agree.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60" y="3767327"/>
            <a:ext cx="1828800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12680" y="3877055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False positive
boundary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608576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74320" y="4608576"/>
            <a:ext cx="457200" cy="86868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" y="4809744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6634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Under-segmentation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502920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51"/>
                </a:solidFill>
              </a:rPr>
              <a:t>A reference boundary missed AND its region merged with an adjacent segment.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17520" y="4663440"/>
            <a:ext cx="6858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Occurs when a chapter change lacks an embedding discontinuity —
common in philosophy lectures where argument evolves gradually
over many sentences without lexical or semantic reset.
Fix: hierarchical subtopic scaffolding provides an intermediate check.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966960" y="4700016"/>
            <a:ext cx="1828800" cy="685800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12680" y="4809744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Merged adjacent
chapters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541264"/>
            <a:ext cx="1161288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541264"/>
            <a:ext cx="457200" cy="86868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" y="5742432"/>
            <a:ext cx="3840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5961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Granularity Mismatch  ← most important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2" y="59618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374751"/>
                </a:solidFill>
              </a:rPr>
              <a:t>A signal fires frequently within chapters at a finer granularity than editorial boundaries.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5596128"/>
            <a:ext cx="685800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Root cause of ALL acoustic/linguistic failures (prosody, BERTopic,
discourse markers, perplexity). These signals are accurate at the
discourse-transition level — they are right about what they detect,
but what they detect is structurally different from creator chapters.
Not noise. Not a calibration problem. A systematic mismatch.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66960" y="5632704"/>
            <a:ext cx="1828800" cy="685800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12680" y="574243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Signal at wrong
discourse level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Method Selector: Full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Supervised meta-model that picks the best segmentation method per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02920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029200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What Is It?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4754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80+ method variants exist (embedding x method x hyperparameter).
No single variant wins on all 30 videos.
The selector LEARNS which variant to use per video.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B1FA2"/>
                </a:solidFill>
              </a:rPr>
              <a:t>MODEL: ExtraTreesRegressor
(scikit-learn ensemble, 500 trees)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00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688"/>
                </a:solidFill>
              </a:rPr>
              <a:t>INPUTS FED TO THE SELECTOR: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566160"/>
            <a:ext cx="4572000" cy="1143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6210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Video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50208"/>
            <a:ext cx="43891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Domain (Biology/CS/Math/Phil/Physics) — one-hot
Video length (minutes)
Sentence count
Mean cosine similarity (BGE-large)
Std of consecutive similarities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846320"/>
            <a:ext cx="4572000" cy="9601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90118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Training-fold stats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230368"/>
            <a:ext cx="43891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For each of the 80+ candidate methods:
  Mean Pk across the 29 training videos
  (= how reliable is this method generally?)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108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B873B"/>
                </a:solidFill>
              </a:rPr>
              <a:t>OUTPUT: predicted Pk per method → pick lowest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143000"/>
            <a:ext cx="630936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77840" y="1143000"/>
            <a:ext cx="630936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0" y="12618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Leave-One-Video-Out Training (LOO-CV)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1691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For each of 30 videos: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8815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2029968"/>
            <a:ext cx="868680" cy="411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9983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TEST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0567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8408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1151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0" y="2029968"/>
            <a:ext cx="868680" cy="411480"/>
          </a:xfrm>
          <a:prstGeom prst="rect">
            <a:avLst/>
          </a:prstGeom>
          <a:solidFill>
            <a:srgbClr val="C0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17352" y="2084831"/>
            <a:ext cx="80467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F2340"/>
                </a:solidFill>
              </a:rPr>
              <a:t>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12880" y="2084831"/>
            <a:ext cx="365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374751"/>
                </a:solidFill>
              </a:rPr>
              <a:t>...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251460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4751"/>
                </a:solidFill>
              </a:rPr>
              <a:t>Train on 29 videos, predict for 1 held-out. Repeat 30 times.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3886200"/>
            <a:ext cx="6309360" cy="2697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77840" y="3886200"/>
            <a:ext cx="63093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4005072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What the Selector Chose (per domain)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60720" y="4407408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52160" y="4462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Physics (7 videos)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26679" y="4462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Multimodal-grid (CLIP+text) for 5/7 videos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4407408"/>
            <a:ext cx="731520" cy="39319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61320" y="44622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Biggest gains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846320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852160" y="49011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CS (7 videos)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26679" y="490118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Cross-E5 conservative most reliable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15600" y="4846320"/>
            <a:ext cx="731520" cy="393192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61320" y="49011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Consistent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760720" y="5285232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52160" y="534009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Biology (6 videos)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26679" y="534009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Cross-E5 + some over-switching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15600" y="5285232"/>
            <a:ext cx="731520" cy="39319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61320" y="534009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Mixed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60720" y="5724144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852160" y="57790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Philosophy (6 videos)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57790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Selector improves Pk/WD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15600" y="5724144"/>
            <a:ext cx="731520" cy="39319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561320" y="57790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Positive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760720" y="6163056"/>
            <a:ext cx="5943600" cy="39319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52160" y="6217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Math (4 videos)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26679" y="6217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❌ FAILS — only 3 training examples per fold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15600" y="6163056"/>
            <a:ext cx="731520" cy="39319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61320" y="6217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Selector hurts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Selector Results &amp; 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How much did the selector improve things?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1691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Pk ↓ (better)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7096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WD ↓ (better)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BS ↑ (better)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F1@2 ↑ (better)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2680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vs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1572768"/>
            <a:ext cx="1161288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BGE-Divisive
(Baseline)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0.388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97096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0.396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35624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0.129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0.088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276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Reference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1956816"/>
            <a:ext cx="116128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Cross-Model
Conservative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58568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0.371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7096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0.376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35624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0.036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9688"/>
                </a:solidFill>
              </a:rPr>
              <a:t>0.024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0116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Best Pk/WD (sig.)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340864"/>
            <a:ext cx="1161288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Balanced
Selector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58568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0.359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7096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0.374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5624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0.076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74152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B873B"/>
                </a:solidFill>
              </a:rPr>
              <a:t>0.089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12680" y="239572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Best mean point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063240"/>
            <a:ext cx="6858000" cy="3520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3063240"/>
            <a:ext cx="685800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182112"/>
            <a:ext cx="6583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Statistical Significance (paired Wilcoxon, α=0.05 with Holm correction)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611880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36758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 vs BGE-divisive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0440" y="367588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06240" y="36758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032504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0965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 vs BGE-divisive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09651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WD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409651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4453128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45171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 vs BGE-divisive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0440" y="45171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06240" y="451713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4873752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937760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 vs BGE-divisive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20440" y="493776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BS + F1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493776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5294376"/>
            <a:ext cx="6492240" cy="384048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5358384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 vs Cross-model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20440" y="535838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Pk/WD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06240" y="535838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62828"/>
                </a:solidFill>
              </a:rPr>
              <a:t>❌ NOT significant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5715000"/>
            <a:ext cx="6492240" cy="38404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77900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 vs Cross-model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20440" y="57790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BS + F1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0" y="57790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B873B"/>
                </a:solidFill>
              </a:rPr>
              <a:t>✅ Significant p&lt;0.05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406640" y="3063240"/>
            <a:ext cx="4663440" cy="35204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589520" y="318211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Final Verdict on Selector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3639312"/>
            <a:ext cx="43891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8F0"/>
                </a:solidFill>
              </a:rPr>
              <a:t>The selector improves mean Pk and significantly
improves BS and F1 vs cross-model.
Pk/WD gain over cross-model alone is NOT
statistically significant.
Interpretation:
  The selector is a stronger OPERATING POINT
  experiment — not a conclusive replacement.
Leave-domain-out: Pk=0.4012 (worse than baseline)
→ NOT a universal deployment model.
→ A LOCAL BENCHMARK operating point.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Comparison to Prior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Supervised vs Unsupervised — direct vs indirect — what metrics they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1900645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7221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72691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09267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Supervised?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44737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81313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16782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3358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Their Result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88828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25404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Our Result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60874" y="1115568"/>
            <a:ext cx="1672045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97450" y="116128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65176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TreeSeg
(Gklezakos 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00645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37221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21 (TinyRec)
+ICSI+AMI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72691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09267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No
(unsupervised)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4737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1313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Pk/WD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16782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53358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Pk=0.367 (TinyRec)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88828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25404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Pk=0.359 (selector)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260874" y="148132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97450" y="15270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65C00"/>
                </a:solidFill>
              </a:rPr>
              <a:t>⚠ INDIRECT
Diff dataset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AVLectures
(Yang 2022)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00645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37221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2350+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72691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267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Self-supervised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44737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81313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No Pk/WD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916782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53358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Outperforms
baselines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88828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25404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260874" y="184708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297450" y="189280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Not comparable
Diff metrics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65176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Freisinger 2023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00645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937221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34+96 lectures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72691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09267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LoRA fine-tuned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44737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281313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F1 only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16782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953358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F1=67.3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588828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25404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60874" y="221284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297450" y="22585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Not comparable
No Pk reported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28600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65176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MiniSeg/YTSEG
(Retkowski 2024)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00645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937221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19,299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572691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09267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Supervised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44737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81313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Pk/WD/F1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916782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953358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Pk=28.73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88828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25404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Pk=35.9 (ours)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60874" y="257860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297450" y="262432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INDIRECT
643x more data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28600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76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Chapter-Gen
(Cao 2022)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00645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37221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9,631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572691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609267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Supervised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244737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281313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AP/Recall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916782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953358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AP=43.3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588828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25404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260874" y="294436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297450" y="2990087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Different task
Generation not seg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28600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5176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Chapter-Llama
(Ventura 2025)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900645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937221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10k/8.1k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72691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609267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Trained LLM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244737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281313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F1/IoU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16782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53358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F1=45.3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588828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625404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N/A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60874" y="331012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297450" y="335584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2828"/>
                </a:solidFill>
              </a:rPr>
              <a:t>❌ Different task
Diff metrics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8600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5176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TextTiling (Hearst)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900645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937221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Our data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572691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3609267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244737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281313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16782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53358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0.605 (ours)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588828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8625404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0.371 (cross-model)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60874" y="3675888"/>
            <a:ext cx="1672045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297450" y="372160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873B"/>
                </a:solidFill>
              </a:rPr>
              <a:t>✅ DIRECT
Ours better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28600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65176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C99 (Choi 2000)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900645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937221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Our data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572691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609267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No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244737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281313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Pk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916782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953358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0.422 (ours)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588828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625404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374751"/>
                </a:solidFill>
              </a:rPr>
              <a:t>0.371 (cross-model)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260874" y="4041648"/>
            <a:ext cx="1672045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297450" y="4087368"/>
            <a:ext cx="159889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B873B"/>
                </a:solidFill>
              </a:rPr>
              <a:t>✅ DIRECT
Ours better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28600" y="5989320"/>
            <a:ext cx="11704320" cy="65836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365760" y="6035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DIRECT comparisons (same dataset, same metric): our method beats all classical/neural baselines.
INDIRECT (different datasets): we approach TreeSeg's Pk at similar scale. Large supervised systems are not the comparison target.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Oracle Gap Analysis: Where Is the Bottleneck?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Locates the dominant source of remaining error — within the evaluated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86868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C00"/>
                </a:solidFill>
              </a:rPr>
              <a:t>IMPORTANT: Oracle results use ground-truth knowledge at test time — NOT deployable.
Purpose: identify whether the gap lies in candidate generation or candidate selection.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48840"/>
            <a:ext cx="658368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6583680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677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Operating Points (Pk)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62179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7063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BGE-Divisive 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77063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0.388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706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73B"/>
                </a:solidFill>
              </a:rPr>
              <a:t>✅ Deployable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77063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Stable starting point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00400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7355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Cross-model conservative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27355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0.371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27355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73B"/>
                </a:solidFill>
              </a:rPr>
              <a:t>✅ Deployable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27355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Statistically significant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03320"/>
            <a:ext cx="62179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77647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Balanced selector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377647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0.359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7647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73B"/>
                </a:solidFill>
              </a:rPr>
              <a:t>✅ Deployable (LOO)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77647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Best mean local point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7939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TreeSeg/TinyRec (indicative)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27939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0.367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427939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B873B"/>
                </a:solidFill>
              </a:rPr>
              <a:t>✅ Deployable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74920" y="427939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Different dataset/labels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709160"/>
            <a:ext cx="6217920" cy="4572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478231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Per-video oracle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478231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0.298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78231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</a:rPr>
              <a:t>❌ NOT deployable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478231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Needs gold at test time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212080"/>
            <a:ext cx="6217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28523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F2340"/>
                </a:solidFill>
              </a:rPr>
              <a:t>Candidate oracle τ=2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88920" y="5285232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0.017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5285232"/>
            <a:ext cx="15544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62828"/>
                </a:solidFill>
              </a:rPr>
              <a:t>❌ NOT deployable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4920" y="5285232"/>
            <a:ext cx="1508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Perfect ranker needed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132320" y="2148840"/>
            <a:ext cx="4754880" cy="4434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132320" y="2148840"/>
            <a:ext cx="47548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0" y="2267712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What the Gap Tells 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697480"/>
            <a:ext cx="4480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Within the evaluated framework:
Gap: deployable best (0.359) → candidate oracle (0.017)
ΔPk ≈ 0.34 — appears concentrated in SELECTION.
Evidence: 96.8% recall already exists in candidate pool.
The right boundaries are being found —
we cannot always identify the correct ones.
This finding is scoped to LecSeg-30 under the
current candidate generation strategy.
What this suggests for future work:
  → NOT 'build a better segmenter'
  → YES 'build a better boundary RANKER'
A supervised ranker trained on 50-100 labelled
lectures with features: local cosine contrast,
cross-model agreement, CLIP signal, pause duration
could plausibly close most of this gap.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Real-World Application: LecSeg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Not just research — a working tool for any YouTube lecture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3035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30352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2340"/>
                </a:solidFill>
              </a:rPr>
              <a:t>What the Web App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19072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751"/>
                </a:solidFill>
              </a:rPr>
              <a:t>Built with Streamlit (scripts/demo.py)
Run: streamlit run scripts/demo.py
Two modes:
1. SEGMENT ANY YOUTUBE VIDEO
   Paste any YouTube URL or video ID
   → Auto-downloads transcript (yt-dlp captions)
   → Sentence split + BGE/E5/MPNet/MiniLM embed
   → Divisive segmentation
   → Llama-3.1-8B generates chapter titles
   → Exports YouTube timestamp format
2. BENCHMARK MODE (LecSeg-30)
   Evaluate any method on the 30-video benchmark
   Shows Pk/WD with reference chapters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Try it: streamlit run scripts/demo.py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143000"/>
            <a:ext cx="61264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52160" y="1143000"/>
            <a:ext cx="612648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261872"/>
            <a:ext cx="5852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App Pipeline (Arbitrary Video Mode)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691640"/>
            <a:ext cx="5760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7465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1. User pastes
YouTube URL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746504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Any lecture video;
no prior indexing needed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35000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2441448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49631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2. Transcript
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2496312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yt-dlp captions (fast)
Fallback: Whisper (slow)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09981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3191256"/>
            <a:ext cx="5760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24612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3. Sentence
Splitting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246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spaCy; cache per video_id
Avoids recomputation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8496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941064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99592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4. Embedding
+ Segmentation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99592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 model in sidebar
(BGE/E5/MPNet/MiniLM)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5994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4690872"/>
            <a:ext cx="5760720" cy="685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74573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5. LLM Titling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745736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Llama-3.1-8B (auto-starts)
Fallback: noun-phrase extraction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3492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D6ABF"/>
                </a:solidFill>
              </a:rPr>
              <a:t>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5440679"/>
            <a:ext cx="576072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26480" y="549554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6.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5495543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Timestamp list
YouTube format export
Semantic similarity chart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Scope of Claims: What LecSeg-30 Shows and Does Not 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Honest positioning — and why small, controlled benchmarks have scientific value large ones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235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2356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What LecSeg-30 DOES show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52578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 Cross-model conservative scoring significantly reduces Pk/WD on LecSeg-30 vs all tested baselines.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395728"/>
            <a:ext cx="52578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46888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 The oracle gap (96.8% recall, Pk=0.017) places the dominant bottleneck in selection, not generation — within this framework.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54096"/>
            <a:ext cx="52578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27248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 Acoustic and linguistic signals systematically over-segment because they detect discourse transitions, not editorial chapters.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12464"/>
            <a:ext cx="52578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85616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 CLIP visual fusion helps because slide transitions share the editorial granularity of creator chapters.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70831"/>
            <a:ext cx="52578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443983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 A supervised selector achieves Pk=0.359 but degrades to 0.4012 under leave-domain-out — it is a local operating point.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29200"/>
            <a:ext cx="52578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02352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 Entropy-weighted fusion automatically down-weights high-entropy (flat) modalities without any manual calibration.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87568"/>
            <a:ext cx="525780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760720"/>
            <a:ext cx="5074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✅  A two-level hierarchical annotation with workflow-consistency estimates is reproducible at small scale.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1143000"/>
            <a:ext cx="57607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1143000"/>
            <a:ext cx="5760720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2618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</a:rPr>
              <a:t>What LecSeg-30 does NOT show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737360"/>
            <a:ext cx="5394960" cy="731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810512"/>
            <a:ext cx="5212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❌  State-of-the-art performance vs large supervised systems. They are trained on 10k-800k videos; the comparison is not meaningful.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2542032"/>
            <a:ext cx="5394960" cy="731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615184"/>
            <a:ext cx="5212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❌  Domain-general deployment. The selector fails on Mathematics (4 videos). 30 videos is not sufficient for general training.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346704"/>
            <a:ext cx="5394960" cy="731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419856"/>
            <a:ext cx="5212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❌  That creator chapters are the 'correct' pedagogical segmentation. They are navigation metadata, not expert annotation.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4151376"/>
            <a:ext cx="5394960" cy="731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224528"/>
            <a:ext cx="5212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❌  That N1/N3/N4 components are novel contributions. They are engineering integrations of standard techniques.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4956048"/>
            <a:ext cx="5394960" cy="73152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5029200"/>
            <a:ext cx="5212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❌  That Whisper transcription quality is near-perfect. Some domain-specific vocabulary may be misrecognised at the margins.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519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F5A623"/>
                </a:solidFill>
              </a:rPr>
              <a:t>Why small benchmarks matter: large-scale aggregates conceal failure modes. A 30-video inspectable benchmark makes it possible to understand WHY systems fail — that is the contribution of this work.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Justifying the Research Title Word-by-Word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LecSeg-30: A Reproducible Low-Resource Benchmark and Diagnostic Study for Lecture-Video Topic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86868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112471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LecSeg-30  ·  A Reproducible  ·  Low-Resource  ·  Benchmark  ·  and Diagnostic Study  ·  for Lecture-Video Topic Segmentation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7627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176272"/>
            <a:ext cx="3749039" cy="6400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176272"/>
            <a:ext cx="3749039" cy="438912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2311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LecSeg-30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79191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30 academic YouTube lecture videos
across 5 domains, 32.52 hours total.
The '30' is in the name because the
benchmark is permanently defined.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17627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2176272"/>
            <a:ext cx="3749039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59" y="2176272"/>
            <a:ext cx="3749039" cy="43891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399" y="22311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Reproducible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679191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All code open (src/lecseg/).
All data IDs public (YouTube URLs).
177+ automated tests.
Every table has a generation script.
Any researcher can rerun.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217627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76272"/>
            <a:ext cx="3749039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176272"/>
            <a:ext cx="3749039" cy="43891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311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Low-Resource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679191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Only 30 videos (vs 10k-800k for
large supervised systems).
No GPU required at inference.
All models run on CPU.
Fully offline with Ollama.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1655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416552"/>
            <a:ext cx="3749039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416552"/>
            <a:ext cx="3749039" cy="43891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4714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919472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Fixed 30-video set with:
- Creator-provided chapter GT
- Two-level hierarchical labels
- Workflow consistency (κ=0.43)
- Pk/WD + bootstrap CIs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59" y="441655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59" y="4416552"/>
            <a:ext cx="3749039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59" y="4416552"/>
            <a:ext cx="3749039" cy="43891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43399" y="44714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Diagnostic Study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399" y="4919472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We don't just report Pk.
We show WHAT FAILS and WHY:
- Granularity mismatch finding
- Oracle gap locates bottleneck
- 5-type error taxonomy
- Ablation of every signal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4416552"/>
            <a:ext cx="3749039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4416552"/>
            <a:ext cx="3749039" cy="64008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4416552"/>
            <a:ext cx="3749039" cy="43891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4714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Lecture-Video
Topic Seg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4919472"/>
            <a:ext cx="356616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Not general video chaptering.
Not meeting segmentation.
Specifically academic YouTube
lectures with Pk/WD evaluation.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Thesis Standards &amp; Quality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Is everything up to academic standard?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15568"/>
            <a:ext cx="387096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1612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Status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45280" y="1115568"/>
            <a:ext cx="387096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1856" y="11612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16240" y="1115568"/>
            <a:ext cx="3870960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52816" y="11612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4813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" y="15270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45280" y="14813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81856" y="15270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Clickable references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16240" y="14813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2816" y="15270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hyperref package; all \citep{} are clickable in PDF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8470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" y="189280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45280" y="18470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1856" y="189280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In-text citations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16240" y="18470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2816" y="189280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38 citations across 5 chapters; all figures/tables cited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2128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" y="22585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5280" y="22128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81856" y="22585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Title match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6240" y="22128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52816" y="22585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Titlepage: 'LecSeg-30: A Reproducible Low-Resource Benchmark and Diagnostic Study'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25786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0896" y="26243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45280" y="25786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81856" y="26243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LaTeX structure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16240" y="25786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52816" y="26243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book class, 12pt, A4; TOC, LOF, LOT, bibliography (plainnat); appendices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9443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10896" y="299008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45280" y="29443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81856" y="299008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6 chapters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16240" y="29443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52816" y="2990087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Intro, Literature, Methodology, Results, Conclusion, Future Work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31012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0896" y="33558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45280" y="331012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81856" y="33558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3 appendices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16240" y="331012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52816" y="33558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Dataset details, Hyperparameters, Extra results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67588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10896" y="37216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45280" y="367588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81856" y="37216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15+ LaTeX tables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16240" y="367588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52816" y="37216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All \input'd from thesis/tables/; generated from data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04164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10896" y="40873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45280" y="404164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81856" y="40873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7 PDF figures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16240" y="404164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052816" y="40873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All in thesis/figures/; referenced with \includegraphics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40740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10896" y="44531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45280" y="440740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181856" y="44531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Statistical tests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016240" y="440740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52816" y="44531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Bootstrap 95% CIs + paired Wilcoxon with Holm correction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77316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10896" y="48188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45280" y="477316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81856" y="48188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Consistency stated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16240" y="477316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52816" y="48188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κ chapter=0.535, subtopic=0.426; methodology limitation acknowledged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1389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10896" y="51846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45280" y="51389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181856" y="51846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Limitations section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16240" y="513892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52816" y="518464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Silver labels, corpus size, selector domain-failure all stated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55046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10896" y="55504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145280" y="55046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181856" y="55504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Threats to validity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16240" y="550468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052816" y="555040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Structured table: construct/external/annotation/internal/metric validity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8704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0896" y="59161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145280" y="58704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181856" y="59161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Error taxonomy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016240" y="587044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052816" y="591616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Formal 5-type taxonomy (A-E) in Ch4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62362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10896" y="62819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145280" y="62362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81856" y="62819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Scope of claims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016240" y="6236208"/>
            <a:ext cx="38709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052816" y="628192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Explicit 'what LecSeg shows / does not show' section in Ch5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66019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10896" y="66476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B873B"/>
                </a:solidFill>
              </a:rPr>
              <a:t>✅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145280" y="66019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181856" y="66476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GPU transcription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016240" y="6601968"/>
            <a:ext cx="3870960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052816" y="6647688"/>
            <a:ext cx="3797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vast.ai RTX 5090 documented in Ch3 and Appendix B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Limitations &amp; Honest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What we cannot claim — and what the examiner will ask about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70432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11612880" cy="548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618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L1: 30 videos is small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26187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Math domain has only 4 → selector fails there.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1225296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61872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51790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We acknowledge this. 30 matches prior low-resource work.
Bootstrap CIs quantify uncertainty. Selector limitation explicitly reported.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249424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249424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34086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L2: Silver chapter labels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3408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YouTube chapters = creator editorial choices, not expert pedagogical labels.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2304288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340864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596896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Treated as navigation metadata only. Human validation listed as future work.
Limitation stated in threats-to-validity section.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328415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328415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1985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L3: Annotation workflow, not independent IAA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41985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Both annotation passes use same workflow → not truly independent.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383279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0" y="3419856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3675887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Renamed 'workflow consistency estimate' throughout the thesis.
Chapter κ inflated (shared metadata); subtopic κ=0.426 is more meaningful.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407408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407408"/>
            <a:ext cx="11612880" cy="54864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4988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L4: Selector not universal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449884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Leave-domain-out: Pk=0.4012 (worse than baseline).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589520" y="4462272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0" y="4498848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75488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Explicitly acknowledged. The selector is a local benchmark operating point,
not a production deployment model. Clearly stated in Ch3 and Ch5.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486400"/>
            <a:ext cx="11612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5486400"/>
            <a:ext cx="11612880" cy="54864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55778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L5: LLM refinement unproven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5778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Llama-3.1-8B boundary shifting does not improve Pk in experiments.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5541264"/>
            <a:ext cx="4206240" cy="8686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5577840"/>
            <a:ext cx="4023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873B"/>
                </a:solidFill>
              </a:rPr>
              <a:t>How we address it: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583387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751"/>
                </a:solidFill>
              </a:rPr>
              <a:t>Reported as diagnostic only. Titling works offline. Not overclaimed.
Future work: larger model or task-specific fine-tuning.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Main Results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The definitive numbers from LecSeg-30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749807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7498079" cy="640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Pk Results Across All Methods (lower = better)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75564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KMeansSeg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746504"/>
            <a:ext cx="5077663" cy="3017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0823" y="17739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0.617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3969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TextTiling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130552"/>
            <a:ext cx="4978908" cy="3017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2068" y="215798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0.605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52374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CosineSeg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514600"/>
            <a:ext cx="4032504" cy="3017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5664" y="254203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0.490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907791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BertSeg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898648"/>
            <a:ext cx="4024274" cy="301752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7434" y="2926079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0.489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3291839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282696"/>
            <a:ext cx="3472891" cy="3017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96051" y="3310127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67588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TwoStage+Prosody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666744"/>
            <a:ext cx="3563416" cy="3017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6576" y="369417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059936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Hierarchical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4050792"/>
            <a:ext cx="3390595" cy="301752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3755" y="4078224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0.412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443984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BGE-Divisive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434840"/>
            <a:ext cx="3193084" cy="301752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6244" y="44622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0.388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828032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CLIP+Text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818888"/>
            <a:ext cx="3077870" cy="30175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01030" y="484632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0.374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5212080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Cross-Model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5202936"/>
            <a:ext cx="3053181" cy="30175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76341" y="523036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0.371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5596128"/>
            <a:ext cx="1920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Selector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5586984"/>
            <a:ext cx="2954426" cy="301752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77586" y="561441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2340"/>
                </a:solidFill>
              </a:rPr>
              <a:t>0.359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70524" y="1709928"/>
            <a:ext cx="13716" cy="425196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96204" y="5806440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E65C00"/>
                </a:solidFill>
              </a:rPr>
              <a:t>baseline
0.388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01000" y="1143000"/>
            <a:ext cx="3977639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1143000"/>
            <a:ext cx="3977639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83879" y="1261872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2340"/>
                </a:solidFill>
              </a:rPr>
              <a:t>All Metrics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92440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29015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42248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78824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592056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628632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WD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341863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78439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091672" y="1719072"/>
            <a:ext cx="749808" cy="36576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128247" y="176479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29015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BGE-Div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842248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78824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0.388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592056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28632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0.396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341863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378439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0.129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091672" y="2084831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128247" y="213055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0.088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92440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29015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Cross-Model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42248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878824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92056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628632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341863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378439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0.036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1091672" y="2450591"/>
            <a:ext cx="749808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128247" y="2496311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0.024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092440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29015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Selector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8842248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78824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0.359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592056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628632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0.374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341863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378439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0.076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1091672" y="2816352"/>
            <a:ext cx="749808" cy="3657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1128247" y="286207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4751"/>
                </a:solidFill>
              </a:rPr>
              <a:t>0.089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183879" y="2834640"/>
            <a:ext cx="3749039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Pk/WD: primary metrics (lower=better)
BS/F1: secondary diagnostics (higher=better)
Note: low F1 reflects conservative boundary policy;
for navigation quality, Pk/WD are the right measure.
Significant improvements:
Cross-model: Pk+WD vs baseline (p&lt;0.05)
Selector: BS+F1 vs cross-model (p&lt;0.05)
N=30 videos
95% bootstrap CIs
Paired Wilcoxon+Holm correction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This Research Contributes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Five contributions ordered by scientific significance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6128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12880" cy="7315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25880"/>
            <a:ext cx="11247120" cy="9692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325880"/>
            <a:ext cx="228600" cy="9692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39903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C1: LecSeg-30 Benchmark  (primary artifact)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8308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30 YouTube lectures · 5 domains · 32.52 h · 419 creator chapters · 904 reviewed subtopic labels
Two-level hierarchy with workflow-consistency estimates (κ=0.54 chapter, κ=0.43 subtopic) · Public YouTube URLs
Makes low-resource lecture segmentation measurable under a shared reproducible protocol.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377439"/>
            <a:ext cx="11247120" cy="9692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377439"/>
            <a:ext cx="228600" cy="969264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450591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C2: Candidate-Selection Bottleneck Finding  (central empirical result)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834639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Oracle analysis: 96.8% recall exists in candidate pool at Pk=0.017 — bottleneck is selection, not generation.
Within the evaluated framework, this relocates the research problem from 'detect more boundaries' to 'rank them better'.
Suggests a supervised ranker on 50-100 labelled lectures as the most productive next step.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429000"/>
            <a:ext cx="11247120" cy="9692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429000"/>
            <a:ext cx="228600" cy="96926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0215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C3: Granularity-Mismatch Diagnosis  (most transferable finding)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88620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Systematic ablation establishes WHY prosody, BERTopic, discourse markers, and perplexity all hurt Pk/WD.
They detect discourse-level transitions; creator chapters are editorial-level decisions — a structural, not calibration, mismatch.
CLIP succeeds for the complementary reason. Directly informs future multimodal lecture-segmentation design.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480559"/>
            <a:ext cx="11247120" cy="9692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480559"/>
            <a:ext cx="228600" cy="969264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5537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C4: Hierarchical Annotation Protocol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937759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Two-level annotation workflow with nesting constraint (B_chapter ⊆ B_subtopic) and consistency estimates.
Value is the protocol and documented procedure. No existing lecture benchmark combines hierarchy + Pk/WD + bootstrap CIs.
Limitation acknowledged: LLM-assisted annotation, not independent human agreement.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532120"/>
            <a:ext cx="11247120" cy="9692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532120"/>
            <a:ext cx="228600" cy="969264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60527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2340"/>
                </a:solidFill>
              </a:rPr>
              <a:t>C5: Reproducibility 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989320"/>
            <a:ext cx="107899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Complete open pipeline: Whisper transcription → spaCy splitting → BGE/E5 embedding → multimodal feature extraction
(CLIP, PaddleOCR, TransNetV2) → seven baseline segmenters + four pipeline components → Pk/WD bootstrap evaluation.
Streamlit web demo · Table-generation scripts for all reported results · 177+ automated tests.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54864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6583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A0C4F0"/>
                </a:solidFill>
              </a:rPr>
              <a:t>What this project taught us about lecture segmentation and benchmark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88952" cy="58521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62356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623560" cy="6400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Segmentation lessons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83080"/>
            <a:ext cx="52578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6231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Granularity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1284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Before adding any signal, ask: at what discourse level does it fire? If finer than chapter level, it will hurt Pk/WD regardless of accuracy.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2578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0449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Vocabulary reuse kills lexical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40156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Technical lectures reuse domain terms across chapters. Any method relying on surface vocabulary will plateau quickly.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160520"/>
            <a:ext cx="52578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3367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Conservative is better than aggressive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9028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Fewer false-positive boundaries improve Pk/WD even when recall drops. The cross-model consensus was our single most reliable policy.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349240"/>
            <a:ext cx="5257800" cy="10972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4223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Oracle analysis should come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779008"/>
            <a:ext cx="4937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If we had run the oracle study earlier, we would have known immediately that improving the segmenter was not the right direction.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143000"/>
            <a:ext cx="576072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143000"/>
            <a:ext cx="5760720" cy="64008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26187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B1FA2"/>
                </a:solidFill>
              </a:rPr>
              <a:t>Benchmark and annotation lessons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783080"/>
            <a:ext cx="539496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1856231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Name your reference precisely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212848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'Creator chapters' and 'pedagogical gold standard' are not the same thing. Every claim should state which it uses.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264408"/>
            <a:ext cx="539496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337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Document what fails, not just what works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694176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Most published systems show only best configurations. Recording failures is more useful for the field.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45736"/>
            <a:ext cx="5394960" cy="1371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481888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F2340"/>
                </a:solidFill>
              </a:rPr>
              <a:t>Annotator independence matters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175504"/>
            <a:ext cx="5120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751"/>
                </a:solidFill>
              </a:rPr>
              <a:t>Using the same LLM for both annotation passes inflates consistency. Always state the procedure, not just the kappa.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6492240"/>
            <a:ext cx="11612880" cy="292608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519672"/>
            <a:ext cx="11247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1">
                <a:solidFill>
                  <a:srgbClr val="F5A623"/>
                </a:solidFill>
              </a:rPr>
              <a:t>Core insight: the value of LecSeg-30 lies less in achieving a new state of the art than in providing a reproducible environment for understanding why low-resource lecture segmentation systems succeed or fail.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914400"/>
            <a:ext cx="3657600" cy="36576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657600"/>
            <a:ext cx="2743200" cy="2743200"/>
          </a:xfrm>
          <a:prstGeom prst="ellipse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</a:rPr>
              <a:t>Final Verdict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9144000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389888"/>
            <a:ext cx="10789920" cy="157276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89888"/>
            <a:ext cx="10789920" cy="64008"/>
          </a:xfrm>
          <a:prstGeom prst="rect">
            <a:avLst/>
          </a:prstGeom>
          <a:solidFill>
            <a:srgbClr val="1B8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961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873B"/>
                </a:solidFill>
              </a:rPr>
              <a:t>What we established: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0"/>
                </a:solidFill>
              </a:rPr>
              <a:t>Conservative cross-model scoring (Pk=0.371) significantly outperforms all classical and neural
baselines on LecSeg-30 (p&lt;0.05, Wilcoxon+Holm). The balanced selector (Pk=0.359) significantly
improves BS and F1. Granularity mismatch explains every acoustic/linguistic failure systematically.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054096"/>
            <a:ext cx="10789920" cy="157276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054096"/>
            <a:ext cx="10789920" cy="64008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6382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C00"/>
                </a:solidFill>
              </a:rPr>
              <a:t>What we honestly acknowledge: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844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0"/>
                </a:solidFill>
              </a:rPr>
              <a:t>We do not beat large supervised systems. The selector fails under leave-domain-out (Pk=0.4012).
LLM boundary refinement is not proven to improve Pk. The oracle gap finding is scoped to LecSeg-30
under the current candidate strategy — not a universal claim. All limitations are stated explicitly.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718304"/>
            <a:ext cx="10789920" cy="1572768"/>
          </a:xfrm>
          <a:prstGeom prst="rect">
            <a:avLst/>
          </a:prstGeom>
          <a:solidFill>
            <a:srgbClr val="1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4718304"/>
            <a:ext cx="10789920" cy="64008"/>
          </a:xfrm>
          <a:prstGeom prst="rect">
            <a:avLst/>
          </a:prstGeom>
          <a:solidFill>
            <a:srgbClr val="2D6A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2803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D6ABF"/>
                </a:solidFill>
              </a:rPr>
              <a:t>What this enables: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48656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CF0"/>
                </a:solidFill>
              </a:rPr>
              <a:t>LecSeg-30 is a fixed, inspectable benchmark for future lecture-segmentation research.
The oracle gap (Pk=0.017) identifies the concrete engineering target: a supervised boundary ranker.
The granularity-mismatch diagnosis shapes which signals are worth adding in future multimodal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922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F5A623"/>
                </a:solidFill>
              </a:rPr>
              <a:t>LecSeg-30 does not make lecture segmentation solved. It makes it MEASURABLE, INSPECTABLE, and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